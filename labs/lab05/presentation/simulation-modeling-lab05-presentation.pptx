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>
        <p:scale>
          <a:sx n="87" d="100"/>
          <a:sy n="87" d="100"/>
        </p:scale>
        <p:origin x="680" y="4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arushi03/study_2025_2026_simmod" TargetMode="External"/><Relationship Id="rId2" Type="http://schemas.openxmlformats.org/officeDocument/2006/relationships/hyperlink" Target="mailto:1132215095@pfur.ru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marL="0" lvl="0" indent="0">
              <a:buNone/>
            </a:pPr>
            <a:r>
              <a:t>лабораторная работа №5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marL="0" lvl="0" indent="0">
              <a:buNone/>
            </a:pPr>
            <a:r>
              <a:t>аппарат сетей Петри</a:t>
            </a:r>
            <a:br/>
            <a:br/>
            <a:r>
              <a:t>Сингх Ааруши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lvl="0" indent="0">
              <a:buNone/>
            </a:pPr>
            <a:r>
              <a:t>2026-04-18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t>Информация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Докладчик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Сингх Ааруши</a:t>
            </a:r>
          </a:p>
          <a:p>
            <a:pPr lvl="0"/>
            <a:r>
              <a:t>студентка</a:t>
            </a:r>
          </a:p>
          <a:p>
            <a:pPr lvl="0"/>
            <a:r>
              <a:t>Российский университет дружбы народов</a:t>
            </a:r>
          </a:p>
          <a:p>
            <a:pPr lvl="0"/>
            <a:r>
              <a:rPr>
                <a:hlinkClick r:id="rId2"/>
              </a:rPr>
              <a:t>1132215095@pfur.ru</a:t>
            </a:r>
          </a:p>
          <a:p>
            <a:pPr lvl="0"/>
            <a:r>
              <a:rPr>
                <a:hlinkClick r:id="rId3"/>
              </a:rPr>
              <a:t>https://github.com/Saarushi03/study_2025_2026_simmod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Цель работы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Целью данной лабораторной работы является изучение аппарата сетей Петри и его применение для моделирования параллельных систем на примере задачи «обедающих философов». Также целью является выявление проблемы взаимной блокировки (deadlock) и анализ способов её предотвращения.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Задание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В рамках лабораторной работы необходимо: построить модель задачи «обедающих философов» с использованием сетей Петри; реализовать имитационное моделирование системы; обнаружить состояние взаимной блокировки в классической модели; модифицировать модель с целью предотвращения deadlock (введение арбитра); провести сравнительный анализ результатов; визуализировать динамику системы с помощью графиков и анимации; оформить отчёт по результатам работы.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t>Выполнение лабораторной работы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В ходе выполнения работы была реализована модель задачи «обедающих философов» с использованием языка программирования Julia. Сначала была построена классическая сеть Петри, моделирующая поведение пяти философов и доступ к вилкам. Затем было выполнено стохастическое моделирование системы, результаты которого были сохранены и визуализированы в виде графиков.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Выполнение лабораторной работы</a:t>
            </a:r>
          </a:p>
        </p:txBody>
      </p:sp>
      <p:pic>
        <p:nvPicPr>
          <p:cNvPr id="3" name="Picture 1" descr="image/classic_simulation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416300" y="1193800"/>
            <a:ext cx="23114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График изменения численности хищников и численности жертв в стационарном состоянии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Выполнение лабораторной работы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Из графика видно, что через некоторое время все философы переходят в состояние «голоден», и ни один не может перейти в состояние «ест».</a:t>
            </a:r>
          </a:p>
          <a:p>
            <a:pPr marL="0" lvl="0" indent="0">
              <a:buNone/>
            </a:pPr>
            <a:r>
              <a:t>Это свидетельствует о возникновении взаимной блокировки (deadlock).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Выполнение лабораторной работы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Далее была реализована модифицированная модель с арбитром, который ограничивает количество философов, одновременно получающих доступ к ресурсам.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Выполнение лабораторной работы</a:t>
            </a:r>
          </a:p>
        </p:txBody>
      </p:sp>
      <p:pic>
        <p:nvPicPr>
          <p:cNvPr id="3" name="Picture 1" descr="image/arbiter_simulation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416300" y="1193800"/>
            <a:ext cx="23114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График изменения численности хищников и численности жертв в стационарном состоянии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Выполнение лабораторной работы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В отличие от классической модели, здесь отсутствует взаимная блокировка. Философы продолжают поочередно переходить в состояние «ест», что свидетельствует о корректной работе системы.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Выполнение лабораторной работы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Для наглядного сравнения результатов был построен итоговый график, отображающий состояние «ест» для обеих моделей.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Выполнение лабораторной работы</a:t>
            </a:r>
          </a:p>
        </p:txBody>
      </p:sp>
      <p:pic>
        <p:nvPicPr>
          <p:cNvPr id="3" name="Picture 1" descr="image/final_report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13000" y="1193800"/>
            <a:ext cx="4318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График изменения численности хищников и численности жертв в стационарном состоянии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Выполнение лабораторной работы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 err="1"/>
              <a:t>Из</a:t>
            </a:r>
            <a:r>
              <a:rPr dirty="0"/>
              <a:t> </a:t>
            </a:r>
            <a:r>
              <a:rPr dirty="0" err="1"/>
              <a:t>графика</a:t>
            </a:r>
            <a:r>
              <a:rPr dirty="0"/>
              <a:t> </a:t>
            </a:r>
            <a:r>
              <a:rPr dirty="0" err="1"/>
              <a:t>видно</a:t>
            </a:r>
            <a:r>
              <a:rPr dirty="0"/>
              <a:t>, </a:t>
            </a:r>
            <a:r>
              <a:rPr dirty="0" err="1"/>
              <a:t>что</a:t>
            </a:r>
            <a:r>
              <a:rPr dirty="0"/>
              <a:t> в </a:t>
            </a:r>
            <a:r>
              <a:rPr dirty="0" err="1"/>
              <a:t>классической</a:t>
            </a:r>
            <a:r>
              <a:rPr dirty="0"/>
              <a:t> </a:t>
            </a:r>
            <a:r>
              <a:rPr dirty="0" err="1"/>
              <a:t>модели</a:t>
            </a:r>
            <a:r>
              <a:rPr dirty="0"/>
              <a:t> </a:t>
            </a:r>
            <a:r>
              <a:rPr dirty="0" err="1"/>
              <a:t>значения</a:t>
            </a:r>
            <a:r>
              <a:rPr dirty="0"/>
              <a:t> </a:t>
            </a:r>
            <a:r>
              <a:rPr dirty="0" err="1"/>
              <a:t>со</a:t>
            </a:r>
            <a:r>
              <a:rPr dirty="0"/>
              <a:t> </a:t>
            </a:r>
            <a:r>
              <a:rPr dirty="0" err="1"/>
              <a:t>временем</a:t>
            </a:r>
            <a:r>
              <a:rPr dirty="0"/>
              <a:t> </a:t>
            </a:r>
            <a:r>
              <a:rPr dirty="0" err="1"/>
              <a:t>становятся</a:t>
            </a:r>
            <a:r>
              <a:rPr dirty="0"/>
              <a:t> </a:t>
            </a:r>
            <a:r>
              <a:rPr dirty="0" err="1"/>
              <a:t>равными</a:t>
            </a:r>
            <a:r>
              <a:rPr dirty="0"/>
              <a:t> </a:t>
            </a:r>
            <a:r>
              <a:rPr dirty="0" err="1"/>
              <a:t>нулю</a:t>
            </a:r>
            <a:r>
              <a:rPr dirty="0"/>
              <a:t>,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подтверждает</a:t>
            </a:r>
            <a:r>
              <a:rPr dirty="0"/>
              <a:t> </a:t>
            </a:r>
            <a:r>
              <a:rPr dirty="0" err="1"/>
              <a:t>наличие</a:t>
            </a:r>
            <a:r>
              <a:rPr dirty="0"/>
              <a:t> deadlock.</a:t>
            </a:r>
          </a:p>
          <a:p>
            <a:pPr marL="0" lvl="0" indent="0">
              <a:buNone/>
            </a:pPr>
            <a:r>
              <a:rPr dirty="0"/>
              <a:t>В </a:t>
            </a:r>
            <a:r>
              <a:rPr dirty="0" err="1"/>
              <a:t>модели</a:t>
            </a:r>
            <a:r>
              <a:rPr dirty="0"/>
              <a:t> с </a:t>
            </a:r>
            <a:r>
              <a:rPr dirty="0" err="1"/>
              <a:t>арбитром</a:t>
            </a:r>
            <a:r>
              <a:rPr dirty="0"/>
              <a:t> </a:t>
            </a:r>
            <a:r>
              <a:rPr dirty="0" err="1"/>
              <a:t>значения</a:t>
            </a:r>
            <a:r>
              <a:rPr dirty="0"/>
              <a:t> </a:t>
            </a:r>
            <a:r>
              <a:rPr dirty="0" err="1"/>
              <a:t>изменяются</a:t>
            </a:r>
            <a:r>
              <a:rPr dirty="0"/>
              <a:t> </a:t>
            </a:r>
            <a:r>
              <a:rPr dirty="0" err="1"/>
              <a:t>во</a:t>
            </a:r>
            <a:r>
              <a:rPr dirty="0"/>
              <a:t> </a:t>
            </a:r>
            <a:r>
              <a:rPr dirty="0" err="1"/>
              <a:t>времени</a:t>
            </a:r>
            <a:r>
              <a:rPr dirty="0"/>
              <a:t>,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указывает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отсутствие</a:t>
            </a:r>
            <a:r>
              <a:rPr dirty="0"/>
              <a:t> </a:t>
            </a:r>
            <a:r>
              <a:rPr dirty="0" err="1"/>
              <a:t>блокировки</a:t>
            </a:r>
            <a:r>
              <a:rPr dirty="0"/>
              <a:t> и </a:t>
            </a:r>
            <a:r>
              <a:rPr dirty="0" err="1"/>
              <a:t>устойчивую</a:t>
            </a:r>
            <a:r>
              <a:rPr dirty="0"/>
              <a:t> </a:t>
            </a:r>
            <a:r>
              <a:rPr dirty="0" err="1"/>
              <a:t>работу</a:t>
            </a:r>
            <a:r>
              <a:rPr dirty="0"/>
              <a:t> </a:t>
            </a:r>
            <a:r>
              <a:rPr dirty="0" err="1"/>
              <a:t>системы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Выполнение лабораторной работы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Для дополнительной визуализации процесса была создана анимация изменения маркировки сети во времени.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Выполнение лабораторной работы</a:t>
            </a:r>
          </a:p>
        </p:txBody>
      </p:sp>
      <p:pic>
        <p:nvPicPr>
          <p:cNvPr id="3" name="Picture 1" descr="image/philosophers_simulation.gif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13000" y="1193800"/>
            <a:ext cx="4318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График изменения численности хищников и численности жертв в стационарном состоянии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Выводы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В результате выполнения лабораторной работы было показано, что классическая модель задачи «обедающих философов» приводит к взаимной блокировке. Модификация модели с использованием арбитра позволяет избежать deadlock и обеспечивает устойчивую работу системы. Сети Петри показали свою эффективность как инструмент для моделирования и анализа параллельных процессов, позволяя наглядно выявлять проблемы синхронизации и исследовать способы их решения.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t>Список литературы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722" y="710033"/>
            <a:ext cx="8229600" cy="3394472"/>
          </a:xfrm>
        </p:spPr>
        <p:txBody>
          <a:bodyPr>
            <a:normAutofit lnSpcReduction="10000"/>
          </a:bodyPr>
          <a:lstStyle/>
          <a:p>
            <a:pPr marL="342900" lvl="0" indent="-342900">
              <a:buAutoNum type="arabicPeriod"/>
            </a:pPr>
            <a:r>
              <a:rPr dirty="0" err="1"/>
              <a:t>Петри</a:t>
            </a:r>
            <a:r>
              <a:rPr dirty="0"/>
              <a:t> К. А. </a:t>
            </a:r>
            <a:r>
              <a:rPr dirty="0" err="1"/>
              <a:t>Взаимодействие</a:t>
            </a:r>
            <a:r>
              <a:rPr dirty="0"/>
              <a:t> с </a:t>
            </a:r>
            <a:r>
              <a:rPr dirty="0" err="1"/>
              <a:t>автоматами</a:t>
            </a:r>
            <a:r>
              <a:rPr dirty="0"/>
              <a:t>. — </a:t>
            </a:r>
            <a:r>
              <a:rPr dirty="0" err="1"/>
              <a:t>Бонн</a:t>
            </a:r>
            <a:r>
              <a:rPr dirty="0"/>
              <a:t>, 1962.</a:t>
            </a:r>
          </a:p>
          <a:p>
            <a:pPr marL="342900" lvl="0" indent="-342900">
              <a:buAutoNum type="arabicPeriod"/>
            </a:pPr>
            <a:r>
              <a:rPr dirty="0" err="1"/>
              <a:t>Дейкстра</a:t>
            </a:r>
            <a:r>
              <a:rPr dirty="0"/>
              <a:t> Э. </a:t>
            </a:r>
            <a:r>
              <a:rPr dirty="0" err="1"/>
              <a:t>Решение</a:t>
            </a:r>
            <a:r>
              <a:rPr dirty="0"/>
              <a:t> </a:t>
            </a:r>
            <a:r>
              <a:rPr dirty="0" err="1"/>
              <a:t>задач</a:t>
            </a:r>
            <a:r>
              <a:rPr dirty="0"/>
              <a:t> </a:t>
            </a:r>
            <a:r>
              <a:rPr dirty="0" err="1"/>
              <a:t>синхронизации</a:t>
            </a:r>
            <a:r>
              <a:rPr dirty="0"/>
              <a:t> </a:t>
            </a:r>
            <a:r>
              <a:rPr dirty="0" err="1"/>
              <a:t>процессов</a:t>
            </a:r>
            <a:r>
              <a:rPr dirty="0"/>
              <a:t>. — 1965.</a:t>
            </a:r>
          </a:p>
          <a:p>
            <a:pPr marL="342900" lvl="0" indent="-342900">
              <a:buAutoNum type="arabicPeriod"/>
            </a:pPr>
            <a:r>
              <a:rPr dirty="0"/>
              <a:t>Murata T. Petri Nets: Properties, Analysis and Applications // Proceedings of the IEEE, 1989.</a:t>
            </a:r>
          </a:p>
          <a:p>
            <a:pPr marL="342900" lvl="0" indent="-342900">
              <a:buAutoNum type="arabicPeriod"/>
            </a:pPr>
            <a:r>
              <a:rPr dirty="0"/>
              <a:t>K. </a:t>
            </a:r>
            <a:r>
              <a:rPr dirty="0" err="1"/>
              <a:t>Coloured</a:t>
            </a:r>
            <a:r>
              <a:rPr dirty="0"/>
              <a:t> Petri Nets: Basic Concepts, Analysis Methods and Practical Use. — Springer, 1997.</a:t>
            </a:r>
          </a:p>
          <a:p>
            <a:pPr marL="342900" lvl="0" indent="-342900">
              <a:buAutoNum type="arabicPeriod"/>
            </a:pPr>
            <a:r>
              <a:rPr dirty="0" err="1"/>
              <a:t>Официальная</a:t>
            </a:r>
            <a:r>
              <a:rPr dirty="0"/>
              <a:t> </a:t>
            </a:r>
            <a:r>
              <a:rPr dirty="0" err="1"/>
              <a:t>документация</a:t>
            </a:r>
            <a:r>
              <a:rPr dirty="0"/>
              <a:t> </a:t>
            </a:r>
            <a:r>
              <a:rPr dirty="0" err="1"/>
              <a:t>языка</a:t>
            </a:r>
            <a:r>
              <a:rPr dirty="0"/>
              <a:t> Julia — https://julialang.org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555</Words>
  <Application>Microsoft Office PowerPoint</Application>
  <PresentationFormat>Экран (16:9)</PresentationFormat>
  <Paragraphs>46</Paragraphs>
  <Slides>20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лабораторная работа №5</vt:lpstr>
      <vt:lpstr>Информация</vt:lpstr>
      <vt:lpstr>Докладчик</vt:lpstr>
      <vt:lpstr>Цель работы</vt:lpstr>
      <vt:lpstr>Задание</vt:lpstr>
      <vt:lpstr>Выполнение лабораторной работы</vt:lpstr>
      <vt:lpstr>Презентация PowerPoint</vt:lpstr>
      <vt:lpstr>Выполнение лабораторной работы</vt:lpstr>
      <vt:lpstr>Выполнение лабораторной работы</vt:lpstr>
      <vt:lpstr>Выполнение лабораторной работы</vt:lpstr>
      <vt:lpstr>Выполнение лабораторной работы</vt:lpstr>
      <vt:lpstr>Выполнение лабораторной работы</vt:lpstr>
      <vt:lpstr>Выполнение лабораторной работы</vt:lpstr>
      <vt:lpstr>Выполнение лабораторной работы</vt:lpstr>
      <vt:lpstr>Выполнение лабораторной работы</vt:lpstr>
      <vt:lpstr>Выполнение лабораторной работы</vt:lpstr>
      <vt:lpstr>Выполнение лабораторной работы</vt:lpstr>
      <vt:lpstr>Выводы</vt:lpstr>
      <vt:lpstr>Список литературы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№5</dc:title>
  <dc:creator>Сингх Ааруши</dc:creator>
  <cp:keywords/>
  <cp:lastModifiedBy>Aarushi Singh</cp:lastModifiedBy>
  <cp:revision>1</cp:revision>
  <dcterms:created xsi:type="dcterms:W3CDTF">2026-04-18T16:45:05Z</dcterms:created>
  <dcterms:modified xsi:type="dcterms:W3CDTF">2026-04-18T16:53:45Z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y-affiliation">
    <vt:lpwstr/>
  </property>
  <property fmtid="{D5CDD505-2E9C-101B-9397-08002B2CF9AE}" pid="6" name="by-author">
    <vt:lpwstr/>
  </property>
  <property fmtid="{D5CDD505-2E9C-101B-9397-08002B2CF9AE}" pid="7" name="crossref">
    <vt:lpwstr/>
  </property>
  <property fmtid="{D5CDD505-2E9C-101B-9397-08002B2CF9AE}" pid="8" name="date">
    <vt:lpwstr>2026-04-18</vt:lpwstr>
  </property>
  <property fmtid="{D5CDD505-2E9C-101B-9397-08002B2CF9AE}" pid="9" name="date-format">
    <vt:lpwstr>2026-04-18</vt:lpwstr>
  </property>
  <property fmtid="{D5CDD505-2E9C-101B-9397-08002B2CF9AE}" pid="10" name="header-includes">
    <vt:lpwstr/>
  </property>
  <property fmtid="{D5CDD505-2E9C-101B-9397-08002B2CF9AE}" pid="11" name="include-after">
    <vt:lpwstr/>
  </property>
  <property fmtid="{D5CDD505-2E9C-101B-9397-08002B2CF9AE}" pid="12" name="include-before">
    <vt:lpwstr/>
  </property>
  <property fmtid="{D5CDD505-2E9C-101B-9397-08002B2CF9AE}" pid="13" name="labels">
    <vt:lpwstr/>
  </property>
  <property fmtid="{D5CDD505-2E9C-101B-9397-08002B2CF9AE}" pid="14" name="license">
    <vt:lpwstr/>
  </property>
  <property fmtid="{D5CDD505-2E9C-101B-9397-08002B2CF9AE}" pid="15" name="subtitle">
    <vt:lpwstr>аппарат сетей Петри</vt:lpwstr>
  </property>
  <property fmtid="{D5CDD505-2E9C-101B-9397-08002B2CF9AE}" pid="16" name="toc-title">
    <vt:lpwstr>Содержание</vt:lpwstr>
  </property>
</Properties>
</file>