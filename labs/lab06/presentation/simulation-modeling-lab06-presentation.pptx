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52" d="100"/>
          <a:sy n="52" d="100"/>
        </p:scale>
        <p:origin x="72" y="4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arushi03/study_2025_2026_simmod" TargetMode="External"/><Relationship Id="rId2" Type="http://schemas.openxmlformats.org/officeDocument/2006/relationships/hyperlink" Target="mailto:1132215095@rudn.ru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Лабораторная работа №6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Реализация основных моделей в подходе сетей Петри</a:t>
            </a:r>
            <a:br/>
            <a:br/>
            <a:r>
              <a:t>Сингх Ааруши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2026-05-01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Информация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Сингх Ааруши</a:t>
            </a:r>
          </a:p>
          <a:p>
            <a:pPr lvl="0"/>
            <a:r>
              <a:t>студентка</a:t>
            </a:r>
          </a:p>
          <a:p>
            <a:pPr lvl="0"/>
            <a:r>
              <a:t>Российский университет дружбы народов им. П. Лумумбы</a:t>
            </a:r>
          </a:p>
          <a:p>
            <a:pPr lvl="0"/>
            <a:r>
              <a:rPr>
                <a:hlinkClick r:id="rId2"/>
              </a:rPr>
              <a:t>1132215095@rudn.ru</a:t>
            </a:r>
          </a:p>
          <a:p>
            <a:pPr lvl="0"/>
            <a:r>
              <a:rPr>
                <a:hlinkClick r:id="rId3"/>
              </a:rPr>
              <a:t>https://github.com/Saarushi03/study_2025_2026_simmod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Целью данной лабораторной работы является изучение модели распространения эпидемии SIR и её реализация с использованием сетей Петри на языке программирования Julia.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В рамках лабораторной работы необходимо:</a:t>
            </a:r>
          </a:p>
          <a:p>
            <a:pPr marL="0" lvl="0" indent="0">
              <a:buNone/>
            </a:pPr>
            <a:r>
              <a:t>Создать рабочую структуру проекта. Реализовать модель SIR с использованием сетей Петри. Выполнить: детерминированную симуляцию; стохастическую симуляцию. Построить графики изменения численности S, I и R. Исследовать влияние параметра β (коэффициента заражения). Построить графики зависимости результатов от параметров.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881" y="874514"/>
            <a:ext cx="8229600" cy="3394472"/>
          </a:xfrm>
        </p:spPr>
        <p:txBody>
          <a:bodyPr>
            <a:normAutofit fontScale="55000" lnSpcReduction="20000"/>
          </a:bodyPr>
          <a:lstStyle/>
          <a:p>
            <a:pPr lvl="0" indent="0">
              <a:buNone/>
            </a:pPr>
            <a:br>
              <a:rPr dirty="0"/>
            </a:br>
            <a:r>
              <a:rPr dirty="0">
                <a:solidFill>
                  <a:srgbClr val="06287E"/>
                </a:solidFill>
                <a:latin typeface="Courier"/>
              </a:rPr>
              <a:t>include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"../</a:t>
            </a:r>
            <a:r>
              <a:rPr dirty="0" err="1">
                <a:solidFill>
                  <a:srgbClr val="4070A0"/>
                </a:solidFill>
                <a:latin typeface="Courier"/>
              </a:rPr>
              <a:t>src</a:t>
            </a:r>
            <a:r>
              <a:rPr dirty="0">
                <a:solidFill>
                  <a:srgbClr val="4070A0"/>
                </a:solidFill>
                <a:latin typeface="Courier"/>
              </a:rPr>
              <a:t>/</a:t>
            </a:r>
            <a:r>
              <a:rPr dirty="0" err="1">
                <a:solidFill>
                  <a:srgbClr val="4070A0"/>
                </a:solidFill>
                <a:latin typeface="Courier"/>
              </a:rPr>
              <a:t>SIRPetri.jl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b="1" dirty="0">
                <a:solidFill>
                  <a:srgbClr val="008000"/>
                </a:solidFill>
                <a:latin typeface="Courier"/>
              </a:rPr>
              <a:t>using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.</a:t>
            </a:r>
            <a:r>
              <a:rPr dirty="0" err="1">
                <a:solidFill>
                  <a:srgbClr val="008000"/>
                </a:solidFill>
                <a:latin typeface="Courier"/>
              </a:rPr>
              <a:t>SIRPetri</a:t>
            </a:r>
            <a:br>
              <a:rPr dirty="0"/>
            </a:br>
            <a:br>
              <a:rPr dirty="0"/>
            </a:br>
            <a:r>
              <a:rPr b="1" dirty="0">
                <a:solidFill>
                  <a:srgbClr val="008000"/>
                </a:solidFill>
                <a:latin typeface="Courier"/>
              </a:rPr>
              <a:t>using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Random</a:t>
            </a:r>
            <a:br>
              <a:rPr dirty="0"/>
            </a:br>
            <a:r>
              <a:rPr b="1" dirty="0">
                <a:solidFill>
                  <a:srgbClr val="008000"/>
                </a:solidFill>
                <a:latin typeface="Courier"/>
              </a:rPr>
              <a:t>using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DataFrames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008000"/>
                </a:solidFill>
                <a:latin typeface="Courier"/>
              </a:rPr>
              <a:t>CSV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008000"/>
                </a:solidFill>
                <a:latin typeface="Courier"/>
              </a:rPr>
              <a:t>Plots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β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0.3</a:t>
            </a:r>
            <a:br>
              <a:rPr dirty="0"/>
            </a:br>
            <a:r>
              <a:rPr dirty="0">
                <a:latin typeface="Courier"/>
              </a:rPr>
              <a:t>γ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0.1</a:t>
            </a:r>
            <a:br>
              <a:rPr dirty="0"/>
            </a:br>
            <a:r>
              <a:rPr dirty="0" err="1">
                <a:latin typeface="Courier"/>
              </a:rPr>
              <a:t>tmax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100.0</a:t>
            </a:r>
            <a:br>
              <a:rPr dirty="0"/>
            </a:br>
            <a:br>
              <a:rPr dirty="0"/>
            </a:br>
            <a:r>
              <a:rPr dirty="0" err="1">
                <a:latin typeface="Courier"/>
              </a:rPr>
              <a:t>df_det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simulate_deterministic</a:t>
            </a:r>
            <a:r>
              <a:rPr dirty="0">
                <a:latin typeface="Courier"/>
              </a:rPr>
              <a:t>(</a:t>
            </a:r>
            <a:br>
              <a:rPr dirty="0"/>
            </a:br>
            <a:r>
              <a:rPr dirty="0">
                <a:latin typeface="Courier"/>
              </a:rPr>
              <a:t>    net, u0, (</a:t>
            </a:r>
            <a:r>
              <a:rPr dirty="0">
                <a:solidFill>
                  <a:srgbClr val="40A070"/>
                </a:solidFill>
                <a:latin typeface="Courier"/>
              </a:rPr>
              <a:t>0.0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tmax</a:t>
            </a:r>
            <a:r>
              <a:rPr dirty="0">
                <a:latin typeface="Courier"/>
              </a:rPr>
              <a:t>),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saveat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0.5</a:t>
            </a:r>
            <a:r>
              <a:rPr dirty="0">
                <a:latin typeface="Courier"/>
              </a:rPr>
              <a:t>,</a:t>
            </a:r>
            <a:br>
              <a:rPr dirty="0"/>
            </a:br>
            <a:r>
              <a:rPr dirty="0">
                <a:latin typeface="Courier"/>
              </a:rPr>
              <a:t>    rates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[β, γ]</a:t>
            </a:r>
            <a:br>
              <a:rPr dirty="0"/>
            </a:b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dirty="0" err="1">
                <a:latin typeface="Courier"/>
              </a:rPr>
              <a:t>CSV.</a:t>
            </a:r>
            <a:r>
              <a:rPr dirty="0" err="1">
                <a:solidFill>
                  <a:srgbClr val="06287E"/>
                </a:solidFill>
                <a:latin typeface="Courier"/>
              </a:rPr>
              <a:t>write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"../data/sir_det.csv"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df_det</a:t>
            </a:r>
            <a:r>
              <a:rPr dirty="0">
                <a:latin typeface="Courier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pic>
        <p:nvPicPr>
          <p:cNvPr id="3" name="Picture 1" descr="image/sir_det_dynamic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Детерминированная симуляция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762" y="1063229"/>
            <a:ext cx="8229600" cy="3394472"/>
          </a:xfrm>
        </p:spPr>
        <p:txBody>
          <a:bodyPr/>
          <a:lstStyle/>
          <a:p>
            <a:pPr lvl="0" indent="0">
              <a:buNone/>
            </a:pPr>
            <a:r>
              <a:rPr dirty="0" err="1">
                <a:solidFill>
                  <a:srgbClr val="008000"/>
                </a:solidFill>
                <a:latin typeface="Courier"/>
              </a:rPr>
              <a:t>Random</a:t>
            </a:r>
            <a:r>
              <a:rPr dirty="0" err="1"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seed</a:t>
            </a:r>
            <a:r>
              <a:rPr dirty="0">
                <a:solidFill>
                  <a:srgbClr val="06287E"/>
                </a:solidFill>
                <a:latin typeface="Courier"/>
              </a:rPr>
              <a:t>!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A070"/>
                </a:solidFill>
                <a:latin typeface="Courier"/>
              </a:rPr>
              <a:t>123</a:t>
            </a: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dirty="0" err="1">
                <a:latin typeface="Courier"/>
              </a:rPr>
              <a:t>df_stoch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simulate_stochastic</a:t>
            </a:r>
            <a:r>
              <a:rPr dirty="0">
                <a:latin typeface="Courier"/>
              </a:rPr>
              <a:t>(</a:t>
            </a:r>
            <a:br>
              <a:rPr dirty="0"/>
            </a:br>
            <a:r>
              <a:rPr dirty="0">
                <a:latin typeface="Courier"/>
              </a:rPr>
              <a:t>    net, u0, (</a:t>
            </a:r>
            <a:r>
              <a:rPr dirty="0">
                <a:solidFill>
                  <a:srgbClr val="40A070"/>
                </a:solidFill>
                <a:latin typeface="Courier"/>
              </a:rPr>
              <a:t>0.0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tmax</a:t>
            </a:r>
            <a:r>
              <a:rPr dirty="0">
                <a:latin typeface="Courier"/>
              </a:rPr>
              <a:t>),</a:t>
            </a:r>
            <a:br>
              <a:rPr dirty="0"/>
            </a:br>
            <a:r>
              <a:rPr dirty="0">
                <a:latin typeface="Courier"/>
              </a:rPr>
              <a:t>    rates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[β, γ]</a:t>
            </a:r>
            <a:br>
              <a:rPr dirty="0"/>
            </a:b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dirty="0" err="1">
                <a:latin typeface="Courier"/>
              </a:rPr>
              <a:t>CSV.</a:t>
            </a:r>
            <a:r>
              <a:rPr dirty="0" err="1">
                <a:solidFill>
                  <a:srgbClr val="06287E"/>
                </a:solidFill>
                <a:latin typeface="Courier"/>
              </a:rPr>
              <a:t>write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"../data/sir_stoch.csv"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df_stoch</a:t>
            </a:r>
            <a:r>
              <a:rPr dirty="0">
                <a:latin typeface="Courier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pic>
        <p:nvPicPr>
          <p:cNvPr id="3" name="Picture 1" descr="image/sir_stoch_dynamic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Стохастическая симуляция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3"/>
            <a:ext cx="8229600" cy="3912171"/>
          </a:xfrm>
        </p:spPr>
        <p:txBody>
          <a:bodyPr>
            <a:normAutofit fontScale="55000" lnSpcReduction="20000"/>
          </a:bodyPr>
          <a:lstStyle/>
          <a:p>
            <a:pPr lvl="0" indent="0">
              <a:buNone/>
            </a:pPr>
            <a:r>
              <a:rPr dirty="0">
                <a:latin typeface="Courier"/>
              </a:rPr>
              <a:t>β_range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0.1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solidFill>
                  <a:srgbClr val="40A070"/>
                </a:solidFill>
                <a:latin typeface="Courier"/>
              </a:rPr>
              <a:t>0.05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solidFill>
                  <a:srgbClr val="40A070"/>
                </a:solidFill>
                <a:latin typeface="Courier"/>
              </a:rPr>
              <a:t>0.8</a:t>
            </a:r>
            <a:br>
              <a:rPr dirty="0"/>
            </a:br>
            <a:r>
              <a:rPr dirty="0" err="1">
                <a:latin typeface="Courier"/>
              </a:rPr>
              <a:t>γ_fixed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0.1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results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[]</a:t>
            </a:r>
            <a:br>
              <a:rPr dirty="0"/>
            </a:b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for</a:t>
            </a:r>
            <a:r>
              <a:rPr dirty="0">
                <a:latin typeface="Courier"/>
              </a:rPr>
              <a:t> β </a:t>
            </a:r>
            <a:r>
              <a:rPr b="1" dirty="0">
                <a:solidFill>
                  <a:srgbClr val="007020"/>
                </a:solidFill>
                <a:latin typeface="Courier"/>
              </a:rPr>
              <a:t>in</a:t>
            </a:r>
            <a:r>
              <a:rPr dirty="0">
                <a:latin typeface="Courier"/>
              </a:rPr>
              <a:t> β_range</a:t>
            </a:r>
            <a:br>
              <a:rPr dirty="0"/>
            </a:br>
            <a:r>
              <a:rPr dirty="0">
                <a:latin typeface="Courier"/>
              </a:rPr>
              <a:t>    net, u0, _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build_sir_network</a:t>
            </a:r>
            <a:r>
              <a:rPr dirty="0">
                <a:latin typeface="Courier"/>
              </a:rPr>
              <a:t>(β, </a:t>
            </a:r>
            <a:r>
              <a:rPr dirty="0" err="1">
                <a:latin typeface="Courier"/>
              </a:rPr>
              <a:t>γ_fixed</a:t>
            </a: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df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simulate_deterministic</a:t>
            </a:r>
            <a:r>
              <a:rPr dirty="0">
                <a:latin typeface="Courier"/>
              </a:rPr>
              <a:t>(</a:t>
            </a:r>
            <a:br>
              <a:rPr dirty="0"/>
            </a:br>
            <a:r>
              <a:rPr dirty="0">
                <a:latin typeface="Courier"/>
              </a:rPr>
              <a:t>        net, u0, (</a:t>
            </a:r>
            <a:r>
              <a:rPr dirty="0">
                <a:solidFill>
                  <a:srgbClr val="40A070"/>
                </a:solidFill>
                <a:latin typeface="Courier"/>
              </a:rPr>
              <a:t>0.0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tmax</a:t>
            </a:r>
            <a:r>
              <a:rPr dirty="0">
                <a:latin typeface="Courier"/>
              </a:rPr>
              <a:t>),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saveat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0.5</a:t>
            </a:r>
            <a:r>
              <a:rPr dirty="0">
                <a:latin typeface="Courier"/>
              </a:rPr>
              <a:t>,</a:t>
            </a:r>
            <a:br>
              <a:rPr dirty="0"/>
            </a:br>
            <a:r>
              <a:rPr dirty="0">
                <a:latin typeface="Courier"/>
              </a:rPr>
              <a:t>        rates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[β, </a:t>
            </a:r>
            <a:r>
              <a:rPr dirty="0" err="1">
                <a:latin typeface="Courier"/>
              </a:rPr>
              <a:t>γ_fixed</a:t>
            </a:r>
            <a:r>
              <a:rPr dirty="0">
                <a:latin typeface="Courier"/>
              </a:rPr>
              <a:t>]</a:t>
            </a:r>
            <a:br>
              <a:rPr dirty="0"/>
            </a:br>
            <a:r>
              <a:rPr dirty="0">
                <a:latin typeface="Courier"/>
              </a:rPr>
              <a:t>    )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peak_I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maximum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df.I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final_R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df.R</a:t>
            </a:r>
            <a:r>
              <a:rPr dirty="0">
                <a:latin typeface="Courier"/>
              </a:rPr>
              <a:t>[</a:t>
            </a:r>
            <a:r>
              <a:rPr b="1" dirty="0">
                <a:solidFill>
                  <a:srgbClr val="007020"/>
                </a:solidFill>
                <a:latin typeface="Courier"/>
              </a:rPr>
              <a:t>end</a:t>
            </a:r>
            <a:r>
              <a:rPr dirty="0">
                <a:latin typeface="Courier"/>
              </a:rPr>
              <a:t>]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06287E"/>
                </a:solidFill>
                <a:latin typeface="Courier"/>
              </a:rPr>
              <a:t>push!</a:t>
            </a:r>
            <a:r>
              <a:rPr dirty="0">
                <a:latin typeface="Courier"/>
              </a:rPr>
              <a:t>(results, (β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β, </a:t>
            </a:r>
            <a:r>
              <a:rPr dirty="0" err="1">
                <a:latin typeface="Courier"/>
              </a:rPr>
              <a:t>peak_I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peak_I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final_R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final_R</a:t>
            </a:r>
            <a:r>
              <a:rPr dirty="0">
                <a:latin typeface="Courier"/>
              </a:rPr>
              <a:t>))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end</a:t>
            </a:r>
            <a:br>
              <a:rPr dirty="0"/>
            </a:br>
            <a:br>
              <a:rPr dirty="0"/>
            </a:br>
            <a:r>
              <a:rPr dirty="0" err="1">
                <a:latin typeface="Courier"/>
              </a:rPr>
              <a:t>df_scan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DataFrame</a:t>
            </a:r>
            <a:r>
              <a:rPr dirty="0">
                <a:latin typeface="Courier"/>
              </a:rPr>
              <a:t>(results)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pic>
        <p:nvPicPr>
          <p:cNvPr id="3" name="Picture 1" descr="image/sir_sca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Исследование параметра 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 indent="0">
              <a:buNone/>
            </a:pPr>
            <a:br/>
            <a:r>
              <a:rPr>
                <a:latin typeface="Courier"/>
              </a:rPr>
              <a:t>p1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plot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df_det.time,</a:t>
            </a:r>
            <a:br/>
            <a:r>
              <a:rPr>
                <a:latin typeface="Courier"/>
              </a:rPr>
              <a:t>    [df_det.I df_stoch.I[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06287E"/>
                </a:solidFill>
                <a:latin typeface="Courier"/>
              </a:rPr>
              <a:t>length</a:t>
            </a:r>
            <a:r>
              <a:rPr>
                <a:latin typeface="Courier"/>
              </a:rPr>
              <a:t>(df_det.time)]],</a:t>
            </a:r>
            <a:br/>
            <a:r>
              <a:rPr>
                <a:latin typeface="Courier"/>
              </a:rPr>
              <a:t>    label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"Deterministic I"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"Stochastic I"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xlabel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"Time"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ylabel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"Infected"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title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"Comparison"</a:t>
            </a:r>
            <a:br/>
            <a:r>
              <a:rPr>
                <a:latin typeface="Courier"/>
              </a:rPr>
              <a:t>)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savefig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"../plots/comparison.png"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p1</a:t>
            </a:r>
          </a:p>
        </p:txBody>
      </p:sp>
      <p:pic>
        <p:nvPicPr>
          <p:cNvPr id="3" name="Picture 1" descr="image/comparis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31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Сравнение моделей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В ходе лабораторной работы была реализована модель SIR с использованием сетей Петри.</a:t>
            </a:r>
          </a:p>
          <a:p>
            <a:pPr marL="0" lvl="0" indent="0">
              <a:buNone/>
            </a:pPr>
            <a:r>
              <a:t>Были получены следующие результаты:</a:t>
            </a:r>
          </a:p>
          <a:p>
            <a:pPr marL="0" lvl="0" indent="0">
              <a:buNone/>
            </a:pPr>
            <a:r>
              <a:t>подтверждено наличие пика эпидемии; показано влияние параметра β на распространение заболевания; выявлены различия между детерминированной и стохастической моделями.</a:t>
            </a:r>
          </a:p>
          <a:p>
            <a:pPr marL="0" lvl="0" indent="0">
              <a:buNone/>
            </a:pPr>
            <a:r>
              <a:t>Сети Петри показали себя удобным инструментом для моделирования динамических систем.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Материалы лабораторной работы.</a:t>
            </a:r>
          </a:p>
          <a:p>
            <a:pPr marL="342900" lvl="0" indent="-342900">
              <a:buAutoNum type="arabicPeriod"/>
            </a:pPr>
            <a:r>
              <a:t>Документация Julia — https://docs.julialang.org</a:t>
            </a:r>
          </a:p>
          <a:p>
            <a:pPr marL="342900" lvl="0" indent="-342900">
              <a:buAutoNum type="arabicPeriod"/>
            </a:pPr>
            <a:r>
              <a:t>Документация пакета OrdinaryDiffEq.</a:t>
            </a:r>
          </a:p>
          <a:p>
            <a:pPr marL="342900" lvl="0" indent="-342900">
              <a:buAutoNum type="arabicPeriod"/>
            </a:pPr>
            <a:r>
              <a:t>Вики: модель SIR.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613</Words>
  <Application>Microsoft Office PowerPoint</Application>
  <PresentationFormat>Экран (16:9)</PresentationFormat>
  <Paragraphs>40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</vt:lpstr>
      <vt:lpstr>Office Theme</vt:lpstr>
      <vt:lpstr>Лабораторная работа №6</vt:lpstr>
      <vt:lpstr>Информация</vt:lpstr>
      <vt:lpstr>Докладчик</vt:lpstr>
      <vt:lpstr>Цель работы</vt:lpstr>
      <vt:lpstr>Задание</vt:lpstr>
      <vt:lpstr>Реализация на Julia</vt:lpstr>
      <vt:lpstr>Реализация на Julia</vt:lpstr>
      <vt:lpstr>Реализация на Julia</vt:lpstr>
      <vt:lpstr>Реализация на Julia</vt:lpstr>
      <vt:lpstr>Реализация на Julia</vt:lpstr>
      <vt:lpstr>Реализация на Julia</vt:lpstr>
      <vt:lpstr>Реализация на Julia</vt:lpstr>
      <vt:lpstr>Выводы</vt:lpstr>
      <vt:lpstr>Список литературы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Сингх Ааруши</dc:creator>
  <cp:keywords/>
  <cp:lastModifiedBy>Aarushi Singh</cp:lastModifiedBy>
  <cp:revision>2</cp:revision>
  <dcterms:created xsi:type="dcterms:W3CDTF">2026-05-01T12:17:28Z</dcterms:created>
  <dcterms:modified xsi:type="dcterms:W3CDTF">2026-05-01T15:52:42Z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2026-05-01</vt:lpwstr>
  </property>
  <property fmtid="{D5CDD505-2E9C-101B-9397-08002B2CF9AE}" pid="9" name="date-format">
    <vt:lpwstr>2026-05-01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Реализация основных моделей в подходе сетей Петри</vt:lpwstr>
  </property>
  <property fmtid="{D5CDD505-2E9C-101B-9397-08002B2CF9AE}" pid="16" name="toc-title">
    <vt:lpwstr>Содержание</vt:lpwstr>
  </property>
</Properties>
</file>