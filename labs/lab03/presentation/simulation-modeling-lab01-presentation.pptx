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9" r:id="rId6"/>
    <p:sldId id="29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87395" autoAdjust="0"/>
  </p:normalViewPr>
  <p:slideViewPr>
    <p:cSldViewPr snapToGrid="0" snapToObjects="1">
      <p:cViewPr>
        <p:scale>
          <a:sx n="61" d="100"/>
          <a:sy n="61" d="100"/>
        </p:scale>
        <p:origin x="1440" y="2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arushi03/study_2025_2026_mathmod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презентация по лабораторной работе №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Подготовка стенда</a:t>
            </a:r>
            <a:br/>
            <a:br/>
            <a:r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2026-02-21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Сингх Ааруши</a:t>
            </a:r>
          </a:p>
          <a:p>
            <a:pPr lvl="0"/>
            <a:r>
              <a:t>студентка</a:t>
            </a:r>
          </a:p>
          <a:p>
            <a:pPr lvl="0"/>
            <a:r>
              <a:t>Российский университет дружбы народов им. П. Лумумбы</a:t>
            </a:r>
          </a:p>
          <a:p>
            <a:pPr lvl="0"/>
            <a:r>
              <a:t>1132215095@rudn.ru</a:t>
            </a:r>
          </a:p>
          <a:p>
            <a:pPr lvl="0"/>
            <a:r>
              <a:rPr>
                <a:hlinkClick r:id="rId2"/>
              </a:rPr>
              <a:t>https://github.com/Saarushi03/study_2025_2026_mathmod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Освоить методологию организации научных проектов в среде Julia с использованием пакета DrWatson, принципы литературного программирования (Literate.jl) и инструменты контроля версий (git, GitFlow). На примере модели экспоненциального роста научиться проводить вычислительные эксперименты, параметрические исследования, автоматически генерировать отчёты (Quarto, Jupyter) и интегрировать результаты в итоговый документ.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Задание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3661"/>
            <a:ext cx="8229600" cy="3879596"/>
          </a:xfrm>
        </p:spPr>
        <p:txBody>
          <a:bodyPr>
            <a:noAutofit/>
          </a:bodyPr>
          <a:lstStyle/>
          <a:p>
            <a:pPr marL="342900" lvl="0" indent="-342900">
              <a:buAutoNum type="arabicPeriod"/>
            </a:pPr>
            <a:r>
              <a:rPr sz="900" b="1" dirty="0" err="1"/>
              <a:t>Подготовка</a:t>
            </a:r>
            <a:r>
              <a:rPr sz="900" b="1" dirty="0"/>
              <a:t> </a:t>
            </a:r>
            <a:r>
              <a:rPr sz="900" b="1" dirty="0" err="1"/>
              <a:t>рабочего</a:t>
            </a:r>
            <a:r>
              <a:rPr sz="900" b="1" dirty="0"/>
              <a:t> </a:t>
            </a:r>
            <a:r>
              <a:rPr sz="900" b="1" dirty="0" err="1"/>
              <a:t>пространства</a:t>
            </a:r>
            <a:endParaRPr sz="900" b="1" dirty="0"/>
          </a:p>
          <a:p>
            <a:pPr lvl="1"/>
            <a:r>
              <a:rPr sz="900" dirty="0" err="1"/>
              <a:t>Создать</a:t>
            </a:r>
            <a:r>
              <a:rPr sz="900" dirty="0"/>
              <a:t> </a:t>
            </a:r>
            <a:r>
              <a:rPr sz="900" dirty="0" err="1"/>
              <a:t>иерархию</a:t>
            </a:r>
            <a:r>
              <a:rPr sz="900" dirty="0"/>
              <a:t> </a:t>
            </a:r>
            <a:r>
              <a:rPr sz="900" dirty="0" err="1"/>
              <a:t>каталогов</a:t>
            </a:r>
            <a:r>
              <a:rPr sz="900" dirty="0"/>
              <a:t> в </a:t>
            </a:r>
            <a:r>
              <a:rPr sz="900" dirty="0" err="1"/>
              <a:t>соответствии</a:t>
            </a:r>
            <a:r>
              <a:rPr sz="900" dirty="0"/>
              <a:t> с </a:t>
            </a:r>
            <a:r>
              <a:rPr sz="900" dirty="0" err="1"/>
              <a:t>соглашением</a:t>
            </a:r>
            <a:r>
              <a:rPr sz="900" dirty="0"/>
              <a:t> Denote.</a:t>
            </a:r>
            <a:br>
              <a:rPr sz="900" dirty="0"/>
            </a:br>
            <a:endParaRPr sz="900" dirty="0"/>
          </a:p>
          <a:p>
            <a:pPr lvl="1"/>
            <a:r>
              <a:rPr sz="900" dirty="0" err="1"/>
              <a:t>Инициализировать</a:t>
            </a:r>
            <a:r>
              <a:rPr sz="900" dirty="0"/>
              <a:t> </a:t>
            </a:r>
            <a:r>
              <a:rPr sz="900" dirty="0" err="1"/>
              <a:t>репозиторий</a:t>
            </a:r>
            <a:r>
              <a:rPr sz="900" dirty="0"/>
              <a:t> </a:t>
            </a:r>
            <a:r>
              <a:rPr sz="900" dirty="0" err="1"/>
              <a:t>курса</a:t>
            </a:r>
            <a:r>
              <a:rPr sz="900" dirty="0"/>
              <a:t> </a:t>
            </a:r>
            <a:r>
              <a:rPr sz="900" dirty="0" err="1"/>
              <a:t>по</a:t>
            </a:r>
            <a:r>
              <a:rPr sz="900" dirty="0"/>
              <a:t> </a:t>
            </a:r>
            <a:r>
              <a:rPr sz="900" dirty="0" err="1"/>
              <a:t>шаблону</a:t>
            </a:r>
            <a:r>
              <a:rPr sz="900" dirty="0"/>
              <a:t>, </a:t>
            </a:r>
            <a:r>
              <a:rPr sz="900" dirty="0" err="1"/>
              <a:t>настроить</a:t>
            </a:r>
            <a:r>
              <a:rPr sz="900" dirty="0"/>
              <a:t> git и </a:t>
            </a:r>
            <a:r>
              <a:rPr sz="900" dirty="0" err="1"/>
              <a:t>GitFlow</a:t>
            </a:r>
            <a:r>
              <a:rPr sz="900" dirty="0"/>
              <a:t>.</a:t>
            </a:r>
            <a:br>
              <a:rPr sz="900" dirty="0"/>
            </a:br>
            <a:endParaRPr sz="900" dirty="0"/>
          </a:p>
          <a:p>
            <a:pPr lvl="1"/>
            <a:r>
              <a:rPr sz="900" dirty="0" err="1"/>
              <a:t>Сгенерировать</a:t>
            </a:r>
            <a:r>
              <a:rPr sz="900" dirty="0"/>
              <a:t> SSH- и PGP-</a:t>
            </a:r>
            <a:r>
              <a:rPr sz="900" dirty="0" err="1"/>
              <a:t>ключи</a:t>
            </a:r>
            <a:r>
              <a:rPr sz="900" dirty="0"/>
              <a:t>, </a:t>
            </a:r>
            <a:r>
              <a:rPr sz="900" dirty="0" err="1"/>
              <a:t>настроить</a:t>
            </a:r>
            <a:r>
              <a:rPr sz="900" dirty="0"/>
              <a:t> </a:t>
            </a:r>
            <a:r>
              <a:rPr sz="900" dirty="0" err="1"/>
              <a:t>подпись</a:t>
            </a:r>
            <a:r>
              <a:rPr sz="900" dirty="0"/>
              <a:t> </a:t>
            </a:r>
            <a:r>
              <a:rPr sz="900" dirty="0" err="1"/>
              <a:t>коммитов</a:t>
            </a:r>
            <a:r>
              <a:rPr sz="900" dirty="0"/>
              <a:t>.</a:t>
            </a:r>
          </a:p>
          <a:p>
            <a:pPr marL="342900" lvl="0" indent="-342900">
              <a:buAutoNum type="arabicPeriod"/>
            </a:pPr>
            <a:r>
              <a:rPr sz="900" b="1" dirty="0" err="1"/>
              <a:t>Создание</a:t>
            </a:r>
            <a:r>
              <a:rPr sz="900" b="1" dirty="0"/>
              <a:t> </a:t>
            </a:r>
            <a:r>
              <a:rPr sz="900" b="1" dirty="0" err="1"/>
              <a:t>проекта</a:t>
            </a:r>
            <a:r>
              <a:rPr sz="900" b="1" dirty="0"/>
              <a:t> </a:t>
            </a:r>
            <a:r>
              <a:rPr sz="900" b="1" dirty="0" err="1"/>
              <a:t>DrWatson</a:t>
            </a:r>
            <a:endParaRPr sz="900" b="1" dirty="0"/>
          </a:p>
          <a:p>
            <a:pPr lvl="1"/>
            <a:r>
              <a:rPr sz="900" dirty="0"/>
              <a:t>В </a:t>
            </a:r>
            <a:r>
              <a:rPr sz="900" dirty="0" err="1"/>
              <a:t>каталоге</a:t>
            </a:r>
            <a:r>
              <a:rPr sz="900" dirty="0"/>
              <a:t> </a:t>
            </a:r>
            <a:r>
              <a:rPr sz="900" dirty="0" err="1"/>
              <a:t>лабораторной</a:t>
            </a:r>
            <a:r>
              <a:rPr sz="900" dirty="0"/>
              <a:t> </a:t>
            </a:r>
            <a:r>
              <a:rPr sz="900" dirty="0" err="1"/>
              <a:t>работы</a:t>
            </a:r>
            <a:r>
              <a:rPr sz="900" dirty="0"/>
              <a:t> (</a:t>
            </a:r>
            <a:r>
              <a:rPr sz="900" dirty="0">
                <a:latin typeface="Courier"/>
              </a:rPr>
              <a:t>labs/lab01</a:t>
            </a:r>
            <a:r>
              <a:rPr sz="900" dirty="0"/>
              <a:t>) </a:t>
            </a:r>
            <a:r>
              <a:rPr sz="900" dirty="0" err="1"/>
              <a:t>инициализировать</a:t>
            </a:r>
            <a:r>
              <a:rPr sz="900" dirty="0"/>
              <a:t> </a:t>
            </a:r>
            <a:r>
              <a:rPr sz="900" dirty="0" err="1"/>
              <a:t>проект</a:t>
            </a:r>
            <a:r>
              <a:rPr sz="900" dirty="0"/>
              <a:t> </a:t>
            </a:r>
            <a:r>
              <a:rPr sz="900" dirty="0" err="1"/>
              <a:t>DrWatson</a:t>
            </a:r>
            <a:r>
              <a:rPr sz="900" dirty="0"/>
              <a:t>.</a:t>
            </a:r>
            <a:br>
              <a:rPr sz="900" dirty="0"/>
            </a:br>
            <a:endParaRPr sz="900" dirty="0"/>
          </a:p>
          <a:p>
            <a:pPr lvl="1"/>
            <a:r>
              <a:rPr sz="900" dirty="0" err="1"/>
              <a:t>Установить</a:t>
            </a:r>
            <a:r>
              <a:rPr sz="900" dirty="0"/>
              <a:t> </a:t>
            </a:r>
            <a:r>
              <a:rPr sz="900" dirty="0" err="1"/>
              <a:t>необходимые</a:t>
            </a:r>
            <a:r>
              <a:rPr sz="900" dirty="0"/>
              <a:t> </a:t>
            </a:r>
            <a:r>
              <a:rPr sz="900" dirty="0" err="1"/>
              <a:t>пакеты</a:t>
            </a:r>
            <a:r>
              <a:rPr sz="900" dirty="0"/>
              <a:t>: </a:t>
            </a:r>
            <a:r>
              <a:rPr sz="900" dirty="0" err="1">
                <a:latin typeface="Courier"/>
              </a:rPr>
              <a:t>DifferentialEquations</a:t>
            </a:r>
            <a:r>
              <a:rPr sz="900" dirty="0"/>
              <a:t>, </a:t>
            </a:r>
            <a:r>
              <a:rPr sz="900" dirty="0">
                <a:latin typeface="Courier"/>
              </a:rPr>
              <a:t>Plots</a:t>
            </a:r>
            <a:r>
              <a:rPr sz="900" dirty="0"/>
              <a:t>, </a:t>
            </a:r>
            <a:r>
              <a:rPr sz="900" dirty="0" err="1">
                <a:latin typeface="Courier"/>
              </a:rPr>
              <a:t>DataFrames</a:t>
            </a:r>
            <a:r>
              <a:rPr sz="900" dirty="0"/>
              <a:t>, </a:t>
            </a:r>
            <a:r>
              <a:rPr sz="900" dirty="0">
                <a:latin typeface="Courier"/>
              </a:rPr>
              <a:t>Literate</a:t>
            </a:r>
            <a:r>
              <a:rPr sz="900" dirty="0"/>
              <a:t>, </a:t>
            </a:r>
            <a:r>
              <a:rPr sz="900" dirty="0">
                <a:latin typeface="Courier"/>
              </a:rPr>
              <a:t>JLD2</a:t>
            </a:r>
            <a:r>
              <a:rPr sz="900" dirty="0"/>
              <a:t>, </a:t>
            </a:r>
            <a:r>
              <a:rPr sz="900" dirty="0">
                <a:latin typeface="Courier"/>
              </a:rPr>
              <a:t>Quarto</a:t>
            </a:r>
            <a:r>
              <a:rPr sz="900" dirty="0"/>
              <a:t> и </a:t>
            </a:r>
            <a:r>
              <a:rPr sz="900" dirty="0" err="1"/>
              <a:t>др</a:t>
            </a:r>
            <a:r>
              <a:rPr sz="900" dirty="0"/>
              <a:t>.</a:t>
            </a:r>
            <a:br>
              <a:rPr sz="900" dirty="0"/>
            </a:br>
            <a:endParaRPr sz="900" dirty="0"/>
          </a:p>
          <a:p>
            <a:pPr lvl="1"/>
            <a:r>
              <a:rPr sz="900" dirty="0" err="1"/>
              <a:t>Проверить</a:t>
            </a:r>
            <a:r>
              <a:rPr sz="900" dirty="0"/>
              <a:t> </a:t>
            </a:r>
            <a:r>
              <a:rPr sz="900" dirty="0" err="1"/>
              <a:t>работоспособность</a:t>
            </a:r>
            <a:r>
              <a:rPr sz="900" dirty="0"/>
              <a:t> </a:t>
            </a:r>
            <a:r>
              <a:rPr sz="900" dirty="0" err="1"/>
              <a:t>окружения</a:t>
            </a:r>
            <a:r>
              <a:rPr sz="900" dirty="0"/>
              <a:t> </a:t>
            </a:r>
            <a:r>
              <a:rPr sz="900" dirty="0" err="1"/>
              <a:t>тестовым</a:t>
            </a:r>
            <a:r>
              <a:rPr sz="900" dirty="0"/>
              <a:t> </a:t>
            </a:r>
            <a:r>
              <a:rPr sz="900" dirty="0" err="1"/>
              <a:t>скриптом</a:t>
            </a:r>
            <a:r>
              <a:rPr sz="900" dirty="0"/>
              <a:t>.</a:t>
            </a:r>
          </a:p>
          <a:p>
            <a:pPr marL="342900" lvl="0" indent="-342900">
              <a:buAutoNum type="arabicPeriod"/>
            </a:pPr>
            <a:r>
              <a:rPr sz="900" b="1" dirty="0" err="1"/>
              <a:t>Реализация</a:t>
            </a:r>
            <a:r>
              <a:rPr sz="900" b="1" dirty="0"/>
              <a:t> </a:t>
            </a:r>
            <a:r>
              <a:rPr sz="900" b="1" dirty="0" err="1"/>
              <a:t>модели</a:t>
            </a:r>
            <a:r>
              <a:rPr sz="900" b="1" dirty="0"/>
              <a:t> </a:t>
            </a:r>
            <a:r>
              <a:rPr sz="900" b="1" dirty="0" err="1"/>
              <a:t>экспоненциального</a:t>
            </a:r>
            <a:r>
              <a:rPr sz="900" b="1" dirty="0"/>
              <a:t> </a:t>
            </a:r>
            <a:r>
              <a:rPr sz="900" b="1" dirty="0" err="1"/>
              <a:t>роста</a:t>
            </a:r>
            <a:endParaRPr sz="900" b="1" dirty="0"/>
          </a:p>
          <a:p>
            <a:pPr lvl="1"/>
            <a:r>
              <a:rPr sz="900" dirty="0" err="1"/>
              <a:t>Написать</a:t>
            </a:r>
            <a:r>
              <a:rPr sz="900" dirty="0"/>
              <a:t> </a:t>
            </a:r>
            <a:r>
              <a:rPr sz="900" dirty="0" err="1"/>
              <a:t>скрипт</a:t>
            </a:r>
            <a:r>
              <a:rPr sz="900" dirty="0"/>
              <a:t>, </a:t>
            </a:r>
            <a:r>
              <a:rPr sz="900" dirty="0" err="1"/>
              <a:t>решающий</a:t>
            </a:r>
            <a:r>
              <a:rPr sz="900" dirty="0"/>
              <a:t> </a:t>
            </a:r>
            <a:r>
              <a:rPr sz="900" dirty="0" err="1"/>
              <a:t>уравнение</a:t>
            </a:r>
            <a:r>
              <a:rPr sz="900" dirty="0"/>
              <a:t> </a:t>
            </a:r>
            <a:r>
              <a:rPr sz="900" dirty="0">
                <a:latin typeface="Courier"/>
              </a:rPr>
              <a:t>du/dt = α·u</a:t>
            </a:r>
            <a:r>
              <a:rPr sz="900" dirty="0"/>
              <a:t> с </a:t>
            </a:r>
            <a:r>
              <a:rPr sz="900" dirty="0" err="1"/>
              <a:t>заданными</a:t>
            </a:r>
            <a:r>
              <a:rPr sz="900" dirty="0"/>
              <a:t> </a:t>
            </a:r>
            <a:r>
              <a:rPr sz="900" dirty="0" err="1"/>
              <a:t>начальными</a:t>
            </a:r>
            <a:r>
              <a:rPr sz="900" dirty="0"/>
              <a:t> </a:t>
            </a:r>
            <a:r>
              <a:rPr sz="900" dirty="0" err="1"/>
              <a:t>условиями</a:t>
            </a:r>
            <a:r>
              <a:rPr sz="900" dirty="0"/>
              <a:t>.</a:t>
            </a:r>
            <a:br>
              <a:rPr sz="900" dirty="0"/>
            </a:br>
            <a:endParaRPr sz="900" dirty="0"/>
          </a:p>
          <a:p>
            <a:pPr lvl="1"/>
            <a:r>
              <a:rPr sz="900" dirty="0" err="1"/>
              <a:t>Построить</a:t>
            </a:r>
            <a:r>
              <a:rPr sz="900" dirty="0"/>
              <a:t> </a:t>
            </a:r>
            <a:r>
              <a:rPr sz="900" dirty="0" err="1"/>
              <a:t>график</a:t>
            </a:r>
            <a:r>
              <a:rPr sz="900" dirty="0"/>
              <a:t> </a:t>
            </a:r>
            <a:r>
              <a:rPr sz="900" dirty="0" err="1"/>
              <a:t>решения</a:t>
            </a:r>
            <a:r>
              <a:rPr sz="900" dirty="0"/>
              <a:t>, </a:t>
            </a:r>
            <a:r>
              <a:rPr sz="900" dirty="0" err="1"/>
              <a:t>вычислить</a:t>
            </a:r>
            <a:r>
              <a:rPr sz="900" dirty="0"/>
              <a:t> </a:t>
            </a:r>
            <a:r>
              <a:rPr sz="900" dirty="0" err="1"/>
              <a:t>время</a:t>
            </a:r>
            <a:r>
              <a:rPr sz="900" dirty="0"/>
              <a:t> </a:t>
            </a:r>
            <a:r>
              <a:rPr sz="900" dirty="0" err="1"/>
              <a:t>удвоения</a:t>
            </a:r>
            <a:r>
              <a:rPr sz="900" dirty="0"/>
              <a:t>.</a:t>
            </a:r>
            <a:br>
              <a:rPr sz="900" dirty="0"/>
            </a:br>
            <a:endParaRPr sz="900" dirty="0"/>
          </a:p>
          <a:p>
            <a:pPr lvl="1"/>
            <a:r>
              <a:rPr sz="900" dirty="0" err="1"/>
              <a:t>Оформить</a:t>
            </a:r>
            <a:r>
              <a:rPr sz="900" dirty="0"/>
              <a:t> </a:t>
            </a:r>
            <a:r>
              <a:rPr sz="900" dirty="0" err="1"/>
              <a:t>скрипт</a:t>
            </a:r>
            <a:r>
              <a:rPr sz="900" dirty="0"/>
              <a:t> в </a:t>
            </a:r>
            <a:r>
              <a:rPr sz="900" dirty="0" err="1"/>
              <a:t>стиле</a:t>
            </a:r>
            <a:r>
              <a:rPr sz="900" dirty="0"/>
              <a:t> </a:t>
            </a:r>
            <a:r>
              <a:rPr sz="900" dirty="0" err="1"/>
              <a:t>литературного</a:t>
            </a:r>
            <a:r>
              <a:rPr sz="900" dirty="0"/>
              <a:t> </a:t>
            </a:r>
            <a:r>
              <a:rPr sz="900" dirty="0" err="1"/>
              <a:t>программирования</a:t>
            </a:r>
            <a:r>
              <a:rPr sz="900" dirty="0"/>
              <a:t> (</a:t>
            </a:r>
            <a:r>
              <a:rPr sz="900" dirty="0" err="1"/>
              <a:t>файл</a:t>
            </a:r>
            <a:r>
              <a:rPr sz="900" dirty="0"/>
              <a:t> </a:t>
            </a:r>
            <a:r>
              <a:rPr sz="900" dirty="0">
                <a:latin typeface="Courier"/>
              </a:rPr>
              <a:t>.</a:t>
            </a:r>
            <a:r>
              <a:rPr sz="900" dirty="0" err="1">
                <a:latin typeface="Courier"/>
              </a:rPr>
              <a:t>jl</a:t>
            </a:r>
            <a:r>
              <a:rPr sz="900" dirty="0"/>
              <a:t> с Markdown-</a:t>
            </a:r>
            <a:r>
              <a:rPr sz="900" dirty="0" err="1"/>
              <a:t>комментариями</a:t>
            </a:r>
            <a:r>
              <a:rPr sz="900" dirty="0"/>
              <a:t>).</a:t>
            </a:r>
          </a:p>
          <a:p>
            <a:pPr marL="342900" lvl="0" indent="-342900">
              <a:buAutoNum type="arabicPeriod"/>
            </a:pPr>
            <a:r>
              <a:rPr sz="900" b="1" dirty="0" err="1"/>
              <a:t>Генерация</a:t>
            </a:r>
            <a:r>
              <a:rPr sz="900" b="1" dirty="0"/>
              <a:t> </a:t>
            </a:r>
            <a:r>
              <a:rPr sz="900" b="1" dirty="0" err="1"/>
              <a:t>производных</a:t>
            </a:r>
            <a:r>
              <a:rPr sz="900" b="1" dirty="0"/>
              <a:t> </a:t>
            </a:r>
            <a:r>
              <a:rPr sz="900" b="1" dirty="0" err="1"/>
              <a:t>форматов</a:t>
            </a:r>
            <a:endParaRPr sz="900" b="1" dirty="0"/>
          </a:p>
          <a:p>
            <a:pPr lvl="1"/>
            <a:r>
              <a:rPr sz="900" dirty="0"/>
              <a:t>С </a:t>
            </a:r>
            <a:r>
              <a:rPr sz="900" dirty="0" err="1"/>
              <a:t>помощью</a:t>
            </a:r>
            <a:r>
              <a:rPr sz="900" dirty="0"/>
              <a:t> </a:t>
            </a:r>
            <a:r>
              <a:rPr sz="900" dirty="0" err="1">
                <a:latin typeface="Courier"/>
              </a:rPr>
              <a:t>Literate.jl</a:t>
            </a:r>
            <a:r>
              <a:rPr sz="900" dirty="0"/>
              <a:t> </a:t>
            </a:r>
            <a:r>
              <a:rPr sz="900" dirty="0" err="1"/>
              <a:t>получить</a:t>
            </a:r>
            <a:r>
              <a:rPr sz="900" dirty="0"/>
              <a:t> </a:t>
            </a:r>
            <a:r>
              <a:rPr sz="900" dirty="0" err="1"/>
              <a:t>из</a:t>
            </a:r>
            <a:r>
              <a:rPr sz="900" dirty="0"/>
              <a:t> </a:t>
            </a:r>
            <a:r>
              <a:rPr sz="900" dirty="0" err="1"/>
              <a:t>литературного</a:t>
            </a:r>
            <a:r>
              <a:rPr sz="900" dirty="0"/>
              <a:t> </a:t>
            </a:r>
            <a:r>
              <a:rPr sz="900" dirty="0" err="1"/>
              <a:t>скрипта</a:t>
            </a:r>
            <a:r>
              <a:rPr sz="900" dirty="0"/>
              <a:t>:</a:t>
            </a:r>
          </a:p>
          <a:p>
            <a:pPr lvl="2"/>
            <a:r>
              <a:rPr sz="900" dirty="0" err="1"/>
              <a:t>чистый</a:t>
            </a:r>
            <a:r>
              <a:rPr sz="900" dirty="0"/>
              <a:t> </a:t>
            </a:r>
            <a:r>
              <a:rPr sz="900" dirty="0" err="1"/>
              <a:t>код</a:t>
            </a:r>
            <a:r>
              <a:rPr sz="900" dirty="0"/>
              <a:t> (</a:t>
            </a:r>
            <a:r>
              <a:rPr sz="900" dirty="0">
                <a:latin typeface="Courier"/>
              </a:rPr>
              <a:t>.</a:t>
            </a:r>
            <a:r>
              <a:rPr sz="900" dirty="0" err="1">
                <a:latin typeface="Courier"/>
              </a:rPr>
              <a:t>jl</a:t>
            </a:r>
            <a:r>
              <a:rPr sz="900" dirty="0"/>
              <a:t>);</a:t>
            </a:r>
            <a:br>
              <a:rPr sz="900" dirty="0"/>
            </a:br>
            <a:endParaRPr sz="900" dirty="0"/>
          </a:p>
          <a:p>
            <a:pPr lvl="2"/>
            <a:r>
              <a:rPr sz="900" dirty="0" err="1"/>
              <a:t>Jupyter</a:t>
            </a:r>
            <a:r>
              <a:rPr sz="900" dirty="0"/>
              <a:t> Notebook (</a:t>
            </a:r>
            <a:r>
              <a:rPr sz="900" dirty="0">
                <a:latin typeface="Courier"/>
              </a:rPr>
              <a:t>.</a:t>
            </a:r>
            <a:r>
              <a:rPr sz="900" dirty="0" err="1">
                <a:latin typeface="Courier"/>
              </a:rPr>
              <a:t>ipynb</a:t>
            </a:r>
            <a:r>
              <a:rPr sz="900" dirty="0"/>
              <a:t>);</a:t>
            </a:r>
            <a:br>
              <a:rPr sz="900" dirty="0"/>
            </a:br>
            <a:endParaRPr sz="900" dirty="0"/>
          </a:p>
          <a:p>
            <a:pPr lvl="2"/>
            <a:r>
              <a:rPr sz="900" dirty="0" err="1"/>
              <a:t>документ</a:t>
            </a:r>
            <a:r>
              <a:rPr sz="900" dirty="0"/>
              <a:t> Quarto (</a:t>
            </a:r>
            <a:r>
              <a:rPr sz="900" dirty="0">
                <a:latin typeface="Courier"/>
              </a:rPr>
              <a:t>.</a:t>
            </a:r>
            <a:r>
              <a:rPr sz="900" dirty="0" err="1">
                <a:latin typeface="Courier"/>
              </a:rPr>
              <a:t>qmd</a:t>
            </a:r>
            <a:r>
              <a:rPr sz="900" dirty="0"/>
              <a:t>).</a:t>
            </a:r>
            <a:br>
              <a:rPr sz="900" dirty="0"/>
            </a:br>
            <a:endParaRPr sz="900" dirty="0"/>
          </a:p>
          <a:p>
            <a:pPr lvl="1"/>
            <a:r>
              <a:rPr sz="900" dirty="0" err="1"/>
              <a:t>Выполнить</a:t>
            </a:r>
            <a:r>
              <a:rPr sz="900" dirty="0"/>
              <a:t> </a:t>
            </a:r>
            <a:r>
              <a:rPr sz="900" dirty="0" err="1"/>
              <a:t>код</a:t>
            </a:r>
            <a:r>
              <a:rPr sz="900" dirty="0"/>
              <a:t> в </a:t>
            </a:r>
            <a:r>
              <a:rPr sz="900" dirty="0" err="1"/>
              <a:t>Jupyter</a:t>
            </a:r>
            <a:r>
              <a:rPr sz="900" dirty="0"/>
              <a:t> и </a:t>
            </a:r>
            <a:r>
              <a:rPr sz="900" dirty="0" err="1"/>
              <a:t>убедиться</a:t>
            </a:r>
            <a:r>
              <a:rPr sz="900" dirty="0"/>
              <a:t> в </a:t>
            </a:r>
            <a:r>
              <a:rPr sz="900" dirty="0" err="1"/>
              <a:t>его</a:t>
            </a:r>
            <a:r>
              <a:rPr sz="900" dirty="0"/>
              <a:t> </a:t>
            </a:r>
            <a:r>
              <a:rPr sz="900" dirty="0" err="1"/>
              <a:t>работоспособности</a:t>
            </a:r>
            <a:r>
              <a:rPr sz="9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0AECF9-61D3-D3E8-54B5-F5B5A297ED29}"/>
              </a:ext>
            </a:extLst>
          </p:cNvPr>
          <p:cNvSpPr txBox="1"/>
          <p:nvPr/>
        </p:nvSpPr>
        <p:spPr>
          <a:xfrm>
            <a:off x="1816873" y="0"/>
            <a:ext cx="55102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300" dirty="0"/>
              <a:t>Задание</a:t>
            </a:r>
            <a:endParaRPr lang="en-US" sz="3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22033-2BD9-FE51-0B56-5A36358830A9}"/>
              </a:ext>
            </a:extLst>
          </p:cNvPr>
          <p:cNvSpPr txBox="1"/>
          <p:nvPr/>
        </p:nvSpPr>
        <p:spPr>
          <a:xfrm>
            <a:off x="691431" y="432040"/>
            <a:ext cx="758333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5. </a:t>
            </a:r>
            <a:r>
              <a:rPr lang="ru-RU" b="1" dirty="0"/>
              <a:t>Параметрическое исследование</a:t>
            </a:r>
          </a:p>
          <a:p>
            <a:pPr lvl="1"/>
            <a:r>
              <a:rPr lang="ru-RU" dirty="0"/>
              <a:t>Модифицировать скрипт для запуска серии экспериментов с разными значениями параметра α.</a:t>
            </a:r>
            <a:br>
              <a:rPr lang="ru-RU" dirty="0"/>
            </a:br>
            <a:endParaRPr lang="ru-RU" dirty="0"/>
          </a:p>
          <a:p>
            <a:pPr lvl="1"/>
            <a:r>
              <a:rPr lang="ru-RU" dirty="0"/>
              <a:t>Использовать </a:t>
            </a:r>
            <a:r>
              <a:rPr lang="ru-RU" dirty="0" err="1">
                <a:latin typeface="Courier"/>
              </a:rPr>
              <a:t>produce_or_load</a:t>
            </a:r>
            <a:r>
              <a:rPr lang="ru-RU" dirty="0"/>
              <a:t> для кэширования результатов.</a:t>
            </a:r>
            <a:br>
              <a:rPr lang="ru-RU" dirty="0"/>
            </a:br>
            <a:endParaRPr lang="ru-RU" dirty="0"/>
          </a:p>
          <a:p>
            <a:pPr lvl="1"/>
            <a:r>
              <a:rPr lang="ru-RU" dirty="0"/>
              <a:t>Собрать все результаты в таблицу, построить сравнительные графики.</a:t>
            </a:r>
            <a:br>
              <a:rPr lang="ru-RU" dirty="0"/>
            </a:br>
            <a:endParaRPr lang="ru-RU" dirty="0"/>
          </a:p>
          <a:p>
            <a:pPr lvl="1"/>
            <a:r>
              <a:rPr lang="ru-RU" dirty="0"/>
              <a:t>Провести бенчмаркинг для различных α.</a:t>
            </a:r>
          </a:p>
          <a:p>
            <a:pPr lvl="0"/>
            <a:r>
              <a:rPr lang="en-US" b="1" dirty="0"/>
              <a:t>6. </a:t>
            </a:r>
            <a:r>
              <a:rPr lang="ru-RU" b="1" dirty="0"/>
              <a:t>Интеграция в отчёт</a:t>
            </a:r>
          </a:p>
          <a:p>
            <a:pPr lvl="1"/>
            <a:r>
              <a:rPr lang="ru-RU" dirty="0"/>
              <a:t>Включить сгенерированный </a:t>
            </a:r>
            <a:r>
              <a:rPr lang="ru-RU" dirty="0" err="1"/>
              <a:t>Quarto</a:t>
            </a:r>
            <a:r>
              <a:rPr lang="ru-RU" dirty="0"/>
              <a:t>-документ в основной отчёт через </a:t>
            </a:r>
            <a:r>
              <a:rPr lang="ru-RU" dirty="0">
                <a:latin typeface="Courier"/>
              </a:rPr>
              <a:t>{{&lt; </a:t>
            </a:r>
            <a:r>
              <a:rPr lang="ru-RU" dirty="0" err="1">
                <a:latin typeface="Courier"/>
              </a:rPr>
              <a:t>include</a:t>
            </a:r>
            <a:r>
              <a:rPr lang="ru-RU" dirty="0">
                <a:latin typeface="Courier"/>
              </a:rPr>
              <a:t> ... &gt;}}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pPr lvl="1"/>
            <a:r>
              <a:rPr lang="ru-RU" dirty="0"/>
              <a:t>Настроить </a:t>
            </a:r>
            <a:r>
              <a:rPr lang="ru-RU" dirty="0">
                <a:latin typeface="Courier"/>
              </a:rPr>
              <a:t>_</a:t>
            </a:r>
            <a:r>
              <a:rPr lang="ru-RU" dirty="0" err="1">
                <a:latin typeface="Courier"/>
              </a:rPr>
              <a:t>quarto.yml</a:t>
            </a:r>
            <a:r>
              <a:rPr lang="ru-RU" dirty="0"/>
              <a:t> и преамбулу для корректной компиляции с кодом </a:t>
            </a:r>
            <a:r>
              <a:rPr lang="ru-RU" dirty="0" err="1"/>
              <a:t>Julia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pPr lvl="1"/>
            <a:r>
              <a:rPr lang="ru-RU" dirty="0"/>
              <a:t>Скомпилировать итоговый отчёт.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14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742C7D-91A1-0A87-12C8-A69B9D20ECE1}"/>
              </a:ext>
            </a:extLst>
          </p:cNvPr>
          <p:cNvSpPr txBox="1"/>
          <p:nvPr/>
        </p:nvSpPr>
        <p:spPr>
          <a:xfrm>
            <a:off x="1130300" y="1231900"/>
            <a:ext cx="746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7. </a:t>
            </a:r>
            <a:r>
              <a:rPr lang="ru-RU" b="1" dirty="0"/>
              <a:t>Фиксация изменений</a:t>
            </a:r>
          </a:p>
          <a:p>
            <a:pPr lvl="1"/>
            <a:r>
              <a:rPr lang="ru-RU" dirty="0"/>
              <a:t>Выполнить коммиты с использованием стандарта </a:t>
            </a:r>
            <a:r>
              <a:rPr lang="ru-RU" dirty="0" err="1"/>
              <a:t>Conventional</a:t>
            </a:r>
            <a:r>
              <a:rPr lang="ru-RU" dirty="0"/>
              <a:t> </a:t>
            </a:r>
            <a:r>
              <a:rPr lang="ru-RU" dirty="0" err="1"/>
              <a:t>Commits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pPr lvl="1"/>
            <a:r>
              <a:rPr lang="ru-RU" dirty="0"/>
              <a:t>Соблюдать семантическое </a:t>
            </a:r>
            <a:r>
              <a:rPr lang="ru-RU" dirty="0" err="1"/>
              <a:t>версионирование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pPr lvl="1"/>
            <a:r>
              <a:rPr lang="ru-RU" dirty="0"/>
              <a:t>Отправить результаты в удалённый репозиторий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0A6FE-69EB-3252-2BE4-963597A72612}"/>
              </a:ext>
            </a:extLst>
          </p:cNvPr>
          <p:cNvSpPr txBox="1"/>
          <p:nvPr/>
        </p:nvSpPr>
        <p:spPr>
          <a:xfrm>
            <a:off x="2882900" y="330200"/>
            <a:ext cx="4267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300" dirty="0"/>
              <a:t>Задание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369355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1. </a:t>
            </a:r>
            <a:r>
              <a:rPr b="1"/>
              <a:t>Настройка окружения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# устанавливается необходимое ПО, создаются ключи, настраиваются git, GitFlow и рабочее пространство согласно шаблону.</a:t>
            </a:r>
          </a:p>
        </p:txBody>
      </p:sp>
      <p:pic>
        <p:nvPicPr>
          <p:cNvPr id="2" name="Picture 1" descr="image/1.1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12900"/>
            <a:ext cx="5105400" cy="106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1: pic.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2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8229600" cy="151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2: pic.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3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8229600" cy="149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3: pic.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4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4: pic.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5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8229600" cy="151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5: pic.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2. </a:t>
            </a:r>
            <a:r>
              <a:rPr b="1"/>
              <a:t>Создание проекта DrWatson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# в каталоге </a:t>
            </a:r>
            <a:r>
              <a:rPr>
                <a:latin typeface="Courier"/>
              </a:rPr>
              <a:t>labs/lab01</a:t>
            </a:r>
            <a:r>
              <a:t> выполняется инициализация проекта, активация окружения, установка пакетов.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3. </a:t>
            </a:r>
            <a:r>
              <a:rPr b="1"/>
              <a:t>Разработка базового скрипта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пишется функция `exponential_growth!`, задаются параметры, решается ОДУ, строится график. </a:t>
            </a:r>
          </a:p>
        </p:txBody>
      </p:sp>
      <p:pic>
        <p:nvPicPr>
          <p:cNvPr id="2" name="Picture 1" descr="image/1.7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00200"/>
            <a:ext cx="5105400" cy="107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6: pic.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8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281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7: pic.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9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1234" y="1701800"/>
            <a:ext cx="410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8: pic.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21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09700" y="1193800"/>
            <a:ext cx="631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9: pic. 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22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1700" y="1193800"/>
            <a:ext cx="732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10: pic. 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4. </a:t>
            </a:r>
            <a:r>
              <a:rPr b="1"/>
              <a:t>Литературное оформление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# скрипт дополняется Markdown-комментариями.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5. </a:t>
            </a:r>
            <a:r>
              <a:rPr b="1"/>
              <a:t>Генерация отчётов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# с помощью </a:t>
            </a:r>
            <a:r>
              <a:rPr>
                <a:latin typeface="Courier"/>
              </a:rPr>
              <a:t>Literate.jl</a:t>
            </a:r>
            <a:r>
              <a:t> создаются чистый код, Jupyter Notebook (VS Studio) и Quarto-документ (скрипт </a:t>
            </a:r>
            <a:r>
              <a:rPr>
                <a:latin typeface="Courier"/>
              </a:rPr>
              <a:t>tangle.jl</a:t>
            </a:r>
            <a:r>
              <a:t>).</a:t>
            </a:r>
          </a:p>
        </p:txBody>
      </p:sp>
      <p:pic>
        <p:nvPicPr>
          <p:cNvPr id="2" name="Picture 1" descr="image/1.18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97000"/>
            <a:ext cx="5105400" cy="148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11: pic. 11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19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11300"/>
            <a:ext cx="82296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12: pic. 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20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46200" y="1193800"/>
            <a:ext cx="646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13: pic. 13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6. </a:t>
            </a:r>
            <a:r>
              <a:rPr b="1"/>
              <a:t>Параметрическое сканирование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модифицируется скрипт для перебора α, используются `dict_list`, `produce_or_load`, сохраняются сводные таблицы и графики.  
 </a:t>
            </a:r>
          </a:p>
        </p:txBody>
      </p:sp>
      <p:pic>
        <p:nvPicPr>
          <p:cNvPr id="2" name="Picture 1" descr="image/1.13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19100"/>
            <a:ext cx="5105400" cy="344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14: pic.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14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15: pic.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15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1193800"/>
            <a:ext cx="3365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16: pic.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/1.16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193800"/>
            <a:ext cx="3759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17: pic.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7. </a:t>
            </a:r>
            <a:r>
              <a:rPr b="1"/>
              <a:t>Бенчмаркинг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измеряется время вычислений для разных α, строится зависимость. 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t>В ходе лабораторной работы создано рабочее пространство с использованием DrWatson и GitFlow, реализована численная модель экспоненциального роста, проведено параметрическое исследование. Код оформлен в стиле литературного программирования (Literate.jl), на его основе сгенерированы Jupyter Notebook и документ Quarto, интегрированные в итоговый отчёт. Все изменения зафиксированы в репозитории с соблюдением стандарта Conventional Commits, что обеспечило воспроизводимость вычислительного эксперимента.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Office PowerPoint</Application>
  <PresentationFormat>Экран (16:9)</PresentationFormat>
  <Paragraphs>79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9" baseType="lpstr">
      <vt:lpstr>Arial</vt:lpstr>
      <vt:lpstr>Calibri</vt:lpstr>
      <vt:lpstr>Courier</vt:lpstr>
      <vt:lpstr>Office Theme</vt:lpstr>
      <vt:lpstr>презентация по лабораторной работе № 1</vt:lpstr>
      <vt:lpstr>Докладчик</vt:lpstr>
      <vt:lpstr>Цель работы</vt:lpstr>
      <vt:lpstr>Задание</vt:lpstr>
      <vt:lpstr>Презентация PowerPoint</vt:lpstr>
      <vt:lpstr>Презентация PowerPoint</vt:lpstr>
      <vt:lpstr>Выполнение лабораторной работы</vt:lpstr>
      <vt:lpstr>1. Настройка окружения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Создание проекта DrWatson</vt:lpstr>
      <vt:lpstr>Презентация PowerPoint</vt:lpstr>
      <vt:lpstr>3. Разработка базового скрипта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4. Литературное оформление</vt:lpstr>
      <vt:lpstr>Презентация PowerPoint</vt:lpstr>
      <vt:lpstr>5. Генерация отчётов</vt:lpstr>
      <vt:lpstr>Презентация PowerPoint</vt:lpstr>
      <vt:lpstr>Презентация PowerPoint</vt:lpstr>
      <vt:lpstr>Презентация PowerPoint</vt:lpstr>
      <vt:lpstr>6. Параметрическое сканирование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7. Бенчмаркинг</vt:lpstr>
      <vt:lpstr>Презентация PowerPoint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лабораторной работе № 1</dc:title>
  <dc:creator>Сингх Ааруши</dc:creator>
  <cp:keywords/>
  <cp:lastModifiedBy>Aarushi Singh</cp:lastModifiedBy>
  <cp:revision>1</cp:revision>
  <dcterms:created xsi:type="dcterms:W3CDTF">2026-03-17T21:10:32Z</dcterms:created>
  <dcterms:modified xsi:type="dcterms:W3CDTF">2026-06-07T20:29:11Z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2026-02-21</vt:lpwstr>
  </property>
  <property fmtid="{D5CDD505-2E9C-101B-9397-08002B2CF9AE}" pid="9" name="date-format">
    <vt:lpwstr>2026-02-21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Подготовка стенда</vt:lpwstr>
  </property>
  <property fmtid="{D5CDD505-2E9C-101B-9397-08002B2CF9AE}" pid="16" name="toc-title">
    <vt:lpwstr>Содержание</vt:lpwstr>
  </property>
</Properties>
</file>