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80" d="100"/>
          <a:sy n="80" d="100"/>
        </p:scale>
        <p:origin x="880" y="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arushi03/study_2025_2026_simmod" TargetMode="External"/><Relationship Id="rId2" Type="http://schemas.openxmlformats.org/officeDocument/2006/relationships/hyperlink" Target="mailto:1132215095@rudn.ru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Лабораторной работе №2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Основные модели</a:t>
            </a:r>
            <a:br/>
            <a:br/>
            <a:r>
              <a:t>Сингх Ааруши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07-03-2026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Информация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t>Сингх Ааруши</a:t>
            </a:r>
          </a:p>
          <a:p>
            <a:pPr lvl="0"/>
            <a:r>
              <a:t>студентка</a:t>
            </a:r>
          </a:p>
          <a:p>
            <a:pPr lvl="0"/>
            <a:r>
              <a:t>Российский университет дружбы народов им. П. Лумумбы</a:t>
            </a:r>
          </a:p>
          <a:p>
            <a:pPr lvl="0"/>
            <a:r>
              <a:rPr>
                <a:hlinkClick r:id="rId2"/>
              </a:rPr>
              <a:t>1132215095@rudn.ru</a:t>
            </a:r>
          </a:p>
          <a:p>
            <a:pPr lvl="0"/>
            <a:r>
              <a:rPr>
                <a:hlinkClick r:id="rId3"/>
              </a:rPr>
              <a:t>https://github.com/Saarushi03/study_2025_2026_simmod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Изучить методы математического моделирования динамических систем с использованием языка программирования Julia. Освоить численное решение систем обыкновенных дифференциальных уравнений на примере модели распространения эпидемии SIR и модели Лотки–Вольтерры. Получить практические навыки визуализации результатов моделирования и анализа поведения динамических систем.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Реализовать модель распространения эпидемии SIR. Выполнить численное решение системы дифференциальных уравнений. Построить графики изменения численности восприимчивых, инфицированных и выздоровевших. Выполнить анализ полученных результатов. Реализовать модель Лотки–Вольтерры для системы «хищник–жертва». Построить графики динамики популяций и фазовый портрет. Выполнить анализ поведения системы и сделать выводы.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Выполнение лабораторной работы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Для выполнения лабораторной работы использовался язык программирования Julia и пакет DifferentialEquations.jl.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Сначала была реализована модель SIR. Для описания процесса распространения заболевания была создана функция, задающая систему дифференциальных уравнений. После задания параметров модели была сформирована задача ODEProblem и выполнено численное решение системы.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pic>
        <p:nvPicPr>
          <p:cNvPr id="3" name="Picture 1" descr="image/sir_mai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60600" y="1193800"/>
            <a:ext cx="4610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1: SIR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pic>
        <p:nvPicPr>
          <p:cNvPr id="3" name="Picture 1" descr="image/sir_effective_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2: fig.2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На основании полученного решения были построены графики изменения количества восприимчивых, инфицированных и выздоровевших людей. Дополнительно были построены графики динамики заражённых, фазовый портрет и график эффективного репродуктивного числа.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pic>
        <p:nvPicPr>
          <p:cNvPr id="3" name="Picture 1" descr="image/sir_infected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3: fig.3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Далее была реализована модель Лотки–Вольтерры. Была создана функция взаимодействия популяций хищников и жертв, заданы параметры системы и выполнено численное решение.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pic>
        <p:nvPicPr>
          <p:cNvPr id="3" name="Picture 1" descr="image/lv_dynamic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81200" y="1193800"/>
            <a:ext cx="519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4: fig.4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pic>
        <p:nvPicPr>
          <p:cNvPr id="3" name="Picture 1" descr="image/lv_phase_portrai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5: fig.5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По результатам моделирования были построены графики динамики популяций, фазовый портрет и спектральный анализ колебаний системы.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Реализация на Julia</a:t>
            </a:r>
          </a:p>
        </p:txBody>
      </p:sp>
      <p:pic>
        <p:nvPicPr>
          <p:cNvPr id="3" name="Picture 1" descr="image/lv_spectrum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Рисунок 6: fig.6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37758"/>
            <a:ext cx="8229600" cy="3394472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 err="1"/>
              <a:t>Полученные</a:t>
            </a:r>
            <a:r>
              <a:rPr dirty="0"/>
              <a:t> </a:t>
            </a:r>
            <a:r>
              <a:rPr dirty="0" err="1"/>
              <a:t>графики</a:t>
            </a:r>
            <a:r>
              <a:rPr dirty="0"/>
              <a:t> </a:t>
            </a:r>
            <a:r>
              <a:rPr dirty="0" err="1"/>
              <a:t>демонстрируют</a:t>
            </a:r>
            <a:r>
              <a:rPr dirty="0"/>
              <a:t> </a:t>
            </a:r>
            <a:r>
              <a:rPr dirty="0" err="1"/>
              <a:t>корректную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обеих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.</a:t>
            </a:r>
          </a:p>
          <a:p>
            <a:pPr marL="0" lvl="0" indent="0">
              <a:buNone/>
            </a:pPr>
            <a:r>
              <a:rPr dirty="0"/>
              <a:t>В </a:t>
            </a:r>
            <a:r>
              <a:rPr dirty="0" err="1"/>
              <a:t>модели</a:t>
            </a:r>
            <a:r>
              <a:rPr dirty="0"/>
              <a:t> SIR </a:t>
            </a:r>
            <a:r>
              <a:rPr dirty="0" err="1"/>
              <a:t>наблюдается</a:t>
            </a:r>
            <a:r>
              <a:rPr dirty="0"/>
              <a:t> </a:t>
            </a:r>
            <a:r>
              <a:rPr dirty="0" err="1"/>
              <a:t>рост</a:t>
            </a:r>
            <a:r>
              <a:rPr dirty="0"/>
              <a:t> </a:t>
            </a:r>
            <a:r>
              <a:rPr dirty="0" err="1"/>
              <a:t>числа</a:t>
            </a:r>
            <a:r>
              <a:rPr dirty="0"/>
              <a:t> </a:t>
            </a:r>
            <a:r>
              <a:rPr dirty="0" err="1"/>
              <a:t>инфицированных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определённого</a:t>
            </a:r>
            <a:r>
              <a:rPr dirty="0"/>
              <a:t> </a:t>
            </a:r>
            <a:r>
              <a:rPr dirty="0" err="1"/>
              <a:t>максимума</a:t>
            </a:r>
            <a:r>
              <a:rPr dirty="0"/>
              <a:t> с </a:t>
            </a:r>
            <a:r>
              <a:rPr dirty="0" err="1"/>
              <a:t>последующим</a:t>
            </a:r>
            <a:r>
              <a:rPr dirty="0"/>
              <a:t> </a:t>
            </a:r>
            <a:r>
              <a:rPr dirty="0" err="1"/>
              <a:t>снижением</a:t>
            </a:r>
            <a:r>
              <a:rPr dirty="0"/>
              <a:t>. </a:t>
            </a:r>
            <a:r>
              <a:rPr dirty="0" err="1"/>
              <a:t>Число</a:t>
            </a:r>
            <a:r>
              <a:rPr dirty="0"/>
              <a:t> </a:t>
            </a:r>
            <a:r>
              <a:rPr dirty="0" err="1"/>
              <a:t>восприимчивых</a:t>
            </a:r>
            <a:r>
              <a:rPr dirty="0"/>
              <a:t> </a:t>
            </a:r>
            <a:r>
              <a:rPr dirty="0" err="1"/>
              <a:t>уменьшается</a:t>
            </a:r>
            <a:r>
              <a:rPr dirty="0"/>
              <a:t>, а </a:t>
            </a:r>
            <a:r>
              <a:rPr dirty="0" err="1"/>
              <a:t>число</a:t>
            </a:r>
            <a:r>
              <a:rPr dirty="0"/>
              <a:t> </a:t>
            </a:r>
            <a:r>
              <a:rPr dirty="0" err="1"/>
              <a:t>выздоровевших</a:t>
            </a:r>
            <a:r>
              <a:rPr dirty="0"/>
              <a:t> </a:t>
            </a:r>
            <a:r>
              <a:rPr dirty="0" err="1"/>
              <a:t>постепенно</a:t>
            </a:r>
            <a:r>
              <a:rPr dirty="0"/>
              <a:t> </a:t>
            </a:r>
            <a:r>
              <a:rPr dirty="0" err="1"/>
              <a:t>возрастает</a:t>
            </a:r>
            <a:r>
              <a:rPr dirty="0"/>
              <a:t>.</a:t>
            </a:r>
          </a:p>
          <a:p>
            <a:pPr marL="0" lvl="0" indent="0">
              <a:buNone/>
            </a:pPr>
            <a:r>
              <a:rPr dirty="0"/>
              <a:t>В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Лотки</a:t>
            </a:r>
            <a:r>
              <a:rPr dirty="0"/>
              <a:t>–</a:t>
            </a:r>
            <a:r>
              <a:rPr dirty="0" err="1"/>
              <a:t>Вольтерры</a:t>
            </a:r>
            <a:r>
              <a:rPr dirty="0"/>
              <a:t> </a:t>
            </a:r>
            <a:r>
              <a:rPr dirty="0" err="1"/>
              <a:t>наблюдаются</a:t>
            </a:r>
            <a:r>
              <a:rPr dirty="0"/>
              <a:t> </a:t>
            </a:r>
            <a:r>
              <a:rPr dirty="0" err="1"/>
              <a:t>периодические</a:t>
            </a:r>
            <a:r>
              <a:rPr dirty="0"/>
              <a:t> </a:t>
            </a:r>
            <a:r>
              <a:rPr dirty="0" err="1"/>
              <a:t>колебания</a:t>
            </a:r>
            <a:r>
              <a:rPr dirty="0"/>
              <a:t> </a:t>
            </a:r>
            <a:r>
              <a:rPr dirty="0" err="1"/>
              <a:t>численности</a:t>
            </a:r>
            <a:r>
              <a:rPr dirty="0"/>
              <a:t> </a:t>
            </a:r>
            <a:r>
              <a:rPr dirty="0" err="1"/>
              <a:t>популяций</a:t>
            </a:r>
            <a:r>
              <a:rPr dirty="0"/>
              <a:t>. </a:t>
            </a:r>
            <a:r>
              <a:rPr dirty="0" err="1"/>
              <a:t>Рост</a:t>
            </a:r>
            <a:r>
              <a:rPr dirty="0"/>
              <a:t> </a:t>
            </a:r>
            <a:r>
              <a:rPr dirty="0" err="1"/>
              <a:t>количества</a:t>
            </a:r>
            <a:r>
              <a:rPr dirty="0"/>
              <a:t> </a:t>
            </a:r>
            <a:r>
              <a:rPr dirty="0" err="1"/>
              <a:t>жертв</a:t>
            </a:r>
            <a:r>
              <a:rPr dirty="0"/>
              <a:t> </a:t>
            </a:r>
            <a:r>
              <a:rPr dirty="0" err="1"/>
              <a:t>приводит</a:t>
            </a:r>
            <a:r>
              <a:rPr dirty="0"/>
              <a:t> к </a:t>
            </a:r>
            <a:r>
              <a:rPr dirty="0" err="1"/>
              <a:t>увеличению</a:t>
            </a:r>
            <a:r>
              <a:rPr dirty="0"/>
              <a:t> </a:t>
            </a:r>
            <a:r>
              <a:rPr dirty="0" err="1"/>
              <a:t>количества</a:t>
            </a:r>
            <a:r>
              <a:rPr dirty="0"/>
              <a:t> </a:t>
            </a:r>
            <a:r>
              <a:rPr dirty="0" err="1"/>
              <a:t>хищников</a:t>
            </a:r>
            <a:r>
              <a:rPr dirty="0"/>
              <a:t>.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уменьшения</a:t>
            </a:r>
            <a:r>
              <a:rPr dirty="0"/>
              <a:t> </a:t>
            </a:r>
            <a:r>
              <a:rPr dirty="0" err="1"/>
              <a:t>численности</a:t>
            </a:r>
            <a:r>
              <a:rPr dirty="0"/>
              <a:t> </a:t>
            </a:r>
            <a:r>
              <a:rPr dirty="0" err="1"/>
              <a:t>жертв</a:t>
            </a:r>
            <a:r>
              <a:rPr dirty="0"/>
              <a:t> </a:t>
            </a:r>
            <a:r>
              <a:rPr dirty="0" err="1"/>
              <a:t>снижается</a:t>
            </a:r>
            <a:r>
              <a:rPr dirty="0"/>
              <a:t> и </a:t>
            </a:r>
            <a:r>
              <a:rPr dirty="0" err="1"/>
              <a:t>численность</a:t>
            </a:r>
            <a:r>
              <a:rPr dirty="0"/>
              <a:t> </a:t>
            </a:r>
            <a:r>
              <a:rPr dirty="0" err="1"/>
              <a:t>хищников</a:t>
            </a:r>
            <a:r>
              <a:rPr dirty="0"/>
              <a:t>,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повторяется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664" y="874514"/>
            <a:ext cx="8229600" cy="339447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В </a:t>
            </a:r>
            <a:r>
              <a:rPr dirty="0" err="1"/>
              <a:t>ходе</a:t>
            </a:r>
            <a:r>
              <a:rPr dirty="0"/>
              <a:t> </a:t>
            </a:r>
            <a:r>
              <a:rPr dirty="0" err="1"/>
              <a:t>лабораторной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были</a:t>
            </a:r>
            <a:r>
              <a:rPr dirty="0"/>
              <a:t> </a:t>
            </a:r>
            <a:r>
              <a:rPr dirty="0" err="1"/>
              <a:t>изучены</a:t>
            </a:r>
            <a:r>
              <a:rPr dirty="0"/>
              <a:t> </a:t>
            </a:r>
            <a:r>
              <a:rPr dirty="0" err="1"/>
              <a:t>методы</a:t>
            </a:r>
            <a:r>
              <a:rPr dirty="0"/>
              <a:t> </a:t>
            </a:r>
            <a:r>
              <a:rPr dirty="0" err="1"/>
              <a:t>численного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 </a:t>
            </a:r>
            <a:r>
              <a:rPr dirty="0" err="1"/>
              <a:t>обыкновенных</a:t>
            </a:r>
            <a:r>
              <a:rPr dirty="0"/>
              <a:t> </a:t>
            </a:r>
            <a:r>
              <a:rPr dirty="0" err="1"/>
              <a:t>дифференциальных</a:t>
            </a:r>
            <a:r>
              <a:rPr dirty="0"/>
              <a:t> </a:t>
            </a:r>
            <a:r>
              <a:rPr dirty="0" err="1"/>
              <a:t>уравнений</a:t>
            </a:r>
            <a:r>
              <a:rPr dirty="0"/>
              <a:t> </a:t>
            </a:r>
            <a:r>
              <a:rPr dirty="0" err="1"/>
              <a:t>средствами</a:t>
            </a:r>
            <a:r>
              <a:rPr dirty="0"/>
              <a:t> </a:t>
            </a:r>
            <a:r>
              <a:rPr dirty="0" err="1"/>
              <a:t>языка</a:t>
            </a:r>
            <a:r>
              <a:rPr dirty="0"/>
              <a:t> Julia.</a:t>
            </a:r>
          </a:p>
          <a:p>
            <a:pPr marL="0" lvl="0" indent="0">
              <a:buNone/>
            </a:pPr>
            <a:r>
              <a:rPr dirty="0" err="1"/>
              <a:t>Были</a:t>
            </a:r>
            <a:r>
              <a:rPr dirty="0"/>
              <a:t> </a:t>
            </a:r>
            <a:r>
              <a:rPr dirty="0" err="1"/>
              <a:t>реализованы</a:t>
            </a:r>
            <a:r>
              <a:rPr dirty="0"/>
              <a:t> </a:t>
            </a:r>
            <a:r>
              <a:rPr dirty="0" err="1"/>
              <a:t>две</a:t>
            </a:r>
            <a:r>
              <a:rPr dirty="0"/>
              <a:t> </a:t>
            </a:r>
            <a:r>
              <a:rPr dirty="0" err="1"/>
              <a:t>математические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: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распространения</a:t>
            </a:r>
            <a:r>
              <a:rPr dirty="0"/>
              <a:t> </a:t>
            </a:r>
            <a:r>
              <a:rPr dirty="0" err="1"/>
              <a:t>эпидемии</a:t>
            </a:r>
            <a:r>
              <a:rPr dirty="0"/>
              <a:t> SIR и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Лотки</a:t>
            </a:r>
            <a:r>
              <a:rPr dirty="0"/>
              <a:t>–</a:t>
            </a:r>
            <a:r>
              <a:rPr dirty="0" err="1"/>
              <a:t>Вольтерры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обеих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 </a:t>
            </a:r>
            <a:r>
              <a:rPr dirty="0" err="1"/>
              <a:t>выполнено</a:t>
            </a:r>
            <a:r>
              <a:rPr dirty="0"/>
              <a:t> </a:t>
            </a:r>
            <a:r>
              <a:rPr dirty="0" err="1"/>
              <a:t>моделирование</a:t>
            </a:r>
            <a:r>
              <a:rPr dirty="0"/>
              <a:t>, </a:t>
            </a:r>
            <a:r>
              <a:rPr dirty="0" err="1"/>
              <a:t>построены</a:t>
            </a:r>
            <a:r>
              <a:rPr dirty="0"/>
              <a:t> </a:t>
            </a:r>
            <a:r>
              <a:rPr dirty="0" err="1"/>
              <a:t>графики</a:t>
            </a:r>
            <a:r>
              <a:rPr dirty="0"/>
              <a:t> и </a:t>
            </a:r>
            <a:r>
              <a:rPr dirty="0" err="1"/>
              <a:t>проведён</a:t>
            </a:r>
            <a:r>
              <a:rPr dirty="0"/>
              <a:t>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результатов</a:t>
            </a:r>
            <a:r>
              <a:rPr dirty="0"/>
              <a:t>.</a:t>
            </a:r>
          </a:p>
          <a:p>
            <a:pPr marL="0" lvl="0" indent="0">
              <a:buNone/>
            </a:pPr>
            <a:r>
              <a:rPr dirty="0" err="1"/>
              <a:t>Полученные</a:t>
            </a:r>
            <a:r>
              <a:rPr dirty="0"/>
              <a:t> </a:t>
            </a:r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подтверждают</a:t>
            </a:r>
            <a:r>
              <a:rPr dirty="0"/>
              <a:t> </a:t>
            </a:r>
            <a:r>
              <a:rPr dirty="0" err="1"/>
              <a:t>теоретические</a:t>
            </a:r>
            <a:r>
              <a:rPr dirty="0"/>
              <a:t> </a:t>
            </a:r>
            <a:r>
              <a:rPr dirty="0" err="1"/>
              <a:t>свойства</a:t>
            </a:r>
            <a:r>
              <a:rPr dirty="0"/>
              <a:t> </a:t>
            </a:r>
            <a:r>
              <a:rPr dirty="0" err="1"/>
              <a:t>рассматриваемых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 и </a:t>
            </a:r>
            <a:r>
              <a:rPr dirty="0" err="1"/>
              <a:t>демонстрируют</a:t>
            </a:r>
            <a:r>
              <a:rPr dirty="0"/>
              <a:t> </a:t>
            </a:r>
            <a:r>
              <a:rPr dirty="0" err="1"/>
              <a:t>возможности</a:t>
            </a:r>
            <a:r>
              <a:rPr dirty="0"/>
              <a:t> </a:t>
            </a:r>
            <a:r>
              <a:rPr dirty="0" err="1"/>
              <a:t>языка</a:t>
            </a:r>
            <a:r>
              <a:rPr dirty="0"/>
              <a:t> Julia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</a:t>
            </a:r>
            <a:r>
              <a:rPr dirty="0" err="1"/>
              <a:t>математического</a:t>
            </a:r>
            <a:r>
              <a:rPr dirty="0"/>
              <a:t> </a:t>
            </a:r>
            <a:r>
              <a:rPr dirty="0" err="1"/>
              <a:t>моделирования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Hairer E., Nørsett S., Wanner G. Solving Ordinary Differential Equations I. Springer.</a:t>
            </a:r>
          </a:p>
          <a:p>
            <a:pPr marL="342900" lvl="0" indent="-342900">
              <a:buAutoNum type="arabicPeriod"/>
            </a:pPr>
            <a:r>
              <a:t>DifferentialEquations.jl Documentation.</a:t>
            </a:r>
          </a:p>
          <a:p>
            <a:pPr marL="342900" lvl="0" indent="-342900">
              <a:buAutoNum type="arabicPeriod"/>
            </a:pPr>
            <a:r>
              <a:t>Julia Programming Language Documentation.</a:t>
            </a:r>
          </a:p>
          <a:p>
            <a:pPr marL="342900" lvl="0" indent="-342900">
              <a:buAutoNum type="arabicPeriod"/>
            </a:pPr>
            <a:r>
              <a:t>Lotka A. J. Elements of Physical Biology.</a:t>
            </a:r>
          </a:p>
          <a:p>
            <a:pPr marL="342900" lvl="0" indent="-342900">
              <a:buAutoNum type="arabicPeriod"/>
            </a:pPr>
            <a:r>
              <a:t>Volterra V. Variations and Fluctuations of the Number of Individuals in Animal Species Living Together.</a:t>
            </a:r>
          </a:p>
          <a:p>
            <a:pPr marL="342900" lvl="0" indent="-342900">
              <a:buAutoNum type="arabicPeriod"/>
            </a:pPr>
            <a:r>
              <a:t>Kermack W., McKendrick A. A Contribution to the Mathematical Theory of Epidemics.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</Words>
  <Application>Microsoft Office PowerPoint</Application>
  <PresentationFormat>Экран (16:9)</PresentationFormat>
  <Paragraphs>52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Лабораторной работе №2</vt:lpstr>
      <vt:lpstr>Информация</vt:lpstr>
      <vt:lpstr>Докладчик</vt:lpstr>
      <vt:lpstr>Цель работы</vt:lpstr>
      <vt:lpstr>Задание</vt:lpstr>
      <vt:lpstr>Выполнение лабораторной работы</vt:lpstr>
      <vt:lpstr>Реализация на Julia</vt:lpstr>
      <vt:lpstr>Реализация на Julia</vt:lpstr>
      <vt:lpstr>Реализация на Julia</vt:lpstr>
      <vt:lpstr>Реализация на Julia</vt:lpstr>
      <vt:lpstr>Реализация на Julia</vt:lpstr>
      <vt:lpstr>Реализация на Julia</vt:lpstr>
      <vt:lpstr>Реализация на Julia</vt:lpstr>
      <vt:lpstr>Реализация на Julia</vt:lpstr>
      <vt:lpstr>Реализация на Julia</vt:lpstr>
      <vt:lpstr>Реализация на Julia</vt:lpstr>
      <vt:lpstr>Реализация на Julia</vt:lpstr>
      <vt:lpstr>Результаты</vt:lpstr>
      <vt:lpstr>Выводы</vt:lpstr>
      <vt:lpstr>Список литературы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Лабораторной работе №2</dc:title>
  <dc:creator>Сингх Ааруши</dc:creator>
  <cp:keywords/>
  <cp:lastModifiedBy>Aarushi Singh</cp:lastModifiedBy>
  <cp:revision>1</cp:revision>
  <dcterms:created xsi:type="dcterms:W3CDTF">2026-06-08T00:13:13Z</dcterms:created>
  <dcterms:modified xsi:type="dcterms:W3CDTF">2026-06-08T00:14:37Z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07-03-2026</vt:lpwstr>
  </property>
  <property fmtid="{D5CDD505-2E9C-101B-9397-08002B2CF9AE}" pid="9" name="date-format">
    <vt:lpwstr>07-03-2026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Основные модели</vt:lpwstr>
  </property>
  <property fmtid="{D5CDD505-2E9C-101B-9397-08002B2CF9AE}" pid="16" name="toc-title">
    <vt:lpwstr>Содержание</vt:lpwstr>
  </property>
</Properties>
</file>